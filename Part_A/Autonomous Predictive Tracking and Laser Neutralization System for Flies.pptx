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3"/>
  </p:notesMasterIdLst>
  <p:sldIdLst>
    <p:sldId id="267" r:id="rId2"/>
    <p:sldId id="257" r:id="rId3"/>
    <p:sldId id="258" r:id="rId4"/>
    <p:sldId id="264" r:id="rId5"/>
    <p:sldId id="259" r:id="rId6"/>
    <p:sldId id="268" r:id="rId7"/>
    <p:sldId id="263" r:id="rId8"/>
    <p:sldId id="269" r:id="rId9"/>
    <p:sldId id="270" r:id="rId10"/>
    <p:sldId id="271" r:id="rId11"/>
    <p:sldId id="272" r:id="rId12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8BE417-7EED-D74A-83A0-358CCEE8D741}" v="317" dt="2026-01-26T12:54:41.497"/>
    <p1510:client id="{74238E6E-1712-4CCC-B0A4-C5F8FAA0CB84}" v="310" dt="2026-01-26T13:13:05.447"/>
    <p1510:client id="{A4F5F984-6243-4CF7-B177-C122E72AF401}" v="113" dt="2026-01-25T20:18:44.7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0DF05-C227-9D43-ACDB-46A8DCEE04F7}" type="datetimeFigureOut">
              <a:rPr lang="en-IL" smtClean="0"/>
              <a:t>09/05/2026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DA9E90-090C-3D4F-A31B-4429CCFD06D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3090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DB084-C926-B0EA-0E51-C101F2318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3CC7B2-3736-3093-DB6A-A100353F1F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16D9D7-6763-DA4C-A8C2-AF3901D38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187B4A-F82E-D99C-33A4-6A1F023DD3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DA9E90-090C-3D4F-A31B-4429CCFD06DB}" type="slidenum">
              <a:rPr lang="en-IL" smtClean="0"/>
              <a:t>11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60722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ACA62-C18F-ED3B-A32E-CBFFF9C509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010E3A-0DD7-6747-2F55-54DD7B1486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CB5A7-5E0A-52A9-EE40-759E6727A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6AD3C-3640-BF4F-938B-E8382B762BFD}" type="datetime1">
              <a:rPr lang="en-US" smtClean="0"/>
              <a:t>9/5/2026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6D5F8-16FF-4891-28D4-3E91D3290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DCA53-D75F-0E28-C782-56D1A9137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9151A-8851-9944-9E94-322CAAE30F5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33896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1ABFF-E559-3EB6-908F-760A661FF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B4922-1505-38B6-86FF-9D2636184C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BFEDF-A6AA-E120-5D97-DC1EF6760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EEF1-E55C-F14C-866E-F0449B6708E3}" type="datetime1">
              <a:rPr lang="en-US" smtClean="0"/>
              <a:t>9/5/2026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BBE05-2948-CCAA-EB2A-E687C6B61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4BEBF-CE25-E6C4-C102-C5E4885C0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9151A-8851-9944-9E94-322CAAE30F5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4386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3E48C-D9B0-F133-4D72-1987BFEA9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683B16-0215-C57D-D97F-9E6B46979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16A30-D90A-C8CE-971C-27B0FD26B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3A38B-77D6-2E4C-BD40-A17925588C78}" type="datetime1">
              <a:rPr lang="en-US" smtClean="0"/>
              <a:t>9/5/2026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BD43A-246C-60AD-A19A-5921A6AAB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4FE18-F1EA-DC49-70A1-3D5BD3E30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9151A-8851-9944-9E94-322CAAE30F5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90080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BD769-1E4E-E289-3A5A-E7DD356D0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A1167-86FF-F8E9-3EC0-C5A252A32F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4589AD-DB08-F120-1D13-0BF96B1DC4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45C33-05A1-5836-E43A-8BFC259BD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1852E-4550-724D-8C76-A4098FF7395D}" type="datetime1">
              <a:rPr lang="en-US" smtClean="0"/>
              <a:t>9/5/2026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0A5B9B-E8A9-5506-479B-D0EB642B6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BC0326-888C-417F-BEFD-33DC4B098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9151A-8851-9944-9E94-322CAAE30F5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20457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581A2-70AB-9398-3362-6D6389F03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C144C2-E9C1-DA07-071F-A2D79DB2A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2351BD-4CDF-1405-3E6F-A4FD5AE3DE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9DFCEA-4E43-482A-BD9C-B59D31483F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C79CE3-6DBF-DFD8-2D06-2A86B1E8C8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A70DA7-184B-46BA-BE0D-2D7FFFFB5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C28A4-3760-AC45-ABDB-13365B9B766A}" type="datetime1">
              <a:rPr lang="en-US" smtClean="0"/>
              <a:t>9/5/2026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E07652-5377-A041-90A4-CCEBFDF84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349F0B-2CA4-A9A4-024C-7A3C160FC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9151A-8851-9944-9E94-322CAAE30F5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90984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30A73-9B64-72D2-076D-65E18FC93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620FDF-8046-B03D-B414-070459E83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4BBB3-7CFB-3B4C-AFCA-4DF0007E20E0}" type="datetime1">
              <a:rPr lang="en-US" smtClean="0"/>
              <a:t>9/5/2026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150E0A-3D0C-A972-06C3-86B08F52B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24743B-A230-E75E-9C95-53A904D08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9151A-8851-9944-9E94-322CAAE30F5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12974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C0E8-9BF8-B7A2-7843-9E2B27198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C8F15-FB81-8440-BF11-705678731D34}" type="datetime1">
              <a:rPr lang="en-US" smtClean="0"/>
              <a:t>9/5/2026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9CB31A-69D4-3456-CCD4-8E5786059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319345-FE7E-3FD0-4DA7-C56F60C96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9151A-8851-9944-9E94-322CAAE30F5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09991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64F0D-1A22-7918-DDB6-FA5510F9A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22AE2-826F-3D67-C058-63A7341B5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D3D2A1-6056-F9E2-E87B-CB74680AC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CD018C-1BD3-E4F3-FEEF-5D344C777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A7019-BC43-F944-972B-30F92CD7608F}" type="datetime1">
              <a:rPr lang="en-US" smtClean="0"/>
              <a:t>9/5/2026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A84A5E-B773-6370-E11B-BD183069D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FA1A64-2845-A042-AEAD-3674E8104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9151A-8851-9944-9E94-322CAAE30F5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54571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AF56A-F6A7-B5BF-D51B-795528DEB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7A2FB2-7169-5B91-AC62-31C5726B2D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C5A1D2-84FC-6C27-1DFF-9AB2F23F5E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07DC81-807E-0715-A113-868E5A3CF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49AC5-CE96-CD48-A47D-6322107A982B}" type="datetime1">
              <a:rPr lang="en-US" smtClean="0"/>
              <a:t>9/5/2026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B77E08-9B4C-F70A-A685-4B6D20FF3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CFE383-7B37-D0BF-DE5C-F25856B35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9151A-8851-9944-9E94-322CAAE30F5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49415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0CED4-2D2E-6B86-9E45-B9533594A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1E57A3-320B-B71C-9B77-974BE0ACC0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2D35E-1064-3C8E-72B4-200ED0465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B7AA7-556F-FA47-9D0A-AFA87A9219D3}" type="datetime1">
              <a:rPr lang="en-US" smtClean="0"/>
              <a:t>9/5/2026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78DCF-7BF1-4051-176A-2B46281FC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DFCCF-012B-9C6F-AF11-0F9F9BC53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9151A-8851-9944-9E94-322CAAE30F5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53367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16EFB9-2826-B684-F20D-1116A3D23C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5CBF2B-4C16-09C9-2918-04EA351FF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C58F6-2957-5D2B-8DF7-FF2507935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95C42-A8B8-8E46-9D8E-C30E4763145E}" type="datetime1">
              <a:rPr lang="en-US" smtClean="0"/>
              <a:t>9/5/2026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29B92-8A80-94CD-BDA5-3E8D08ECA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A7D43-7DF6-CC50-310B-B729F4E67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9151A-8851-9944-9E94-322CAAE30F5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5297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0A0FF4-A3E9-A2D2-0F5A-947B00AB1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80C47E-25C6-4033-B537-6DE10AB3CE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1D879-AA79-987B-866B-81889B1EAB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752D8D-15E8-C54D-A8B3-086965C8A09E}" type="datetime1">
              <a:rPr lang="en-US" smtClean="0"/>
              <a:t>9/5/2026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9A5A8-DA01-6E11-6100-E0E0D0E7D6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BD18B-90CC-FCC9-D367-CC8F137F7E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B9151A-8851-9944-9E94-322CAAE30F5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35569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77A41B-4683-585E-20ED-18D3D76D4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9064" y="455422"/>
            <a:ext cx="9177594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Autonomous Predictive Tracking and Laser Neutralization System for Flies</a:t>
            </a:r>
            <a:endParaRPr lang="en-US" sz="40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59083A-3DF2-BDB0-9D27-41D4A826E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0B9151A-8851-9944-9E94-322CAAE30F50}" type="slidenum">
              <a:rPr lang="en-US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 sz="110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9C34B3-2BA1-A5F1-479D-7DDC892AE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911" y="-13924"/>
            <a:ext cx="3897040" cy="11385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9B6964-C0AB-305F-547C-C3CBDDC8BC22}"/>
              </a:ext>
            </a:extLst>
          </p:cNvPr>
          <p:cNvSpPr txBox="1"/>
          <p:nvPr/>
        </p:nvSpPr>
        <p:spPr>
          <a:xfrm>
            <a:off x="4991755" y="2741029"/>
            <a:ext cx="3963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Code: 26-1-R-22</a:t>
            </a:r>
            <a:endParaRPr lang="en-IL" b="1">
              <a:solidFill>
                <a:schemeClr val="bg1"/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76358BC-1EDA-2A8F-1DA8-7913ED8F0DD0}"/>
              </a:ext>
            </a:extLst>
          </p:cNvPr>
          <p:cNvSpPr txBox="1">
            <a:spLocks/>
          </p:cNvSpPr>
          <p:nvPr/>
        </p:nvSpPr>
        <p:spPr>
          <a:xfrm>
            <a:off x="1519431" y="3565783"/>
            <a:ext cx="9144000" cy="244769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he-IL" b="1">
                <a:solidFill>
                  <a:schemeClr val="bg1"/>
                </a:solidFill>
              </a:rPr>
              <a:t>				</a:t>
            </a:r>
            <a:r>
              <a:rPr lang="he-IL" sz="2600" b="1">
                <a:solidFill>
                  <a:schemeClr val="bg1"/>
                </a:solidFill>
              </a:rPr>
              <a:t>       </a:t>
            </a:r>
            <a:r>
              <a:rPr lang="en-US" sz="2600" b="1">
                <a:solidFill>
                  <a:schemeClr val="bg1"/>
                </a:solidFill>
              </a:rPr>
              <a:t>By:</a:t>
            </a:r>
            <a:r>
              <a:rPr lang="en-US" sz="2600">
                <a:solidFill>
                  <a:schemeClr val="bg1"/>
                </a:solidFill>
              </a:rPr>
              <a:t> </a:t>
            </a:r>
            <a:endParaRPr lang="en-US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600">
                <a:solidFill>
                  <a:schemeClr val="bg1"/>
                </a:solidFill>
              </a:rPr>
              <a:t>Daniel </a:t>
            </a:r>
            <a:r>
              <a:rPr lang="en-US" sz="2600" err="1">
                <a:solidFill>
                  <a:schemeClr val="bg1"/>
                </a:solidFill>
              </a:rPr>
              <a:t>Lachmakov</a:t>
            </a:r>
            <a:r>
              <a:rPr lang="en-US" sz="2600">
                <a:solidFill>
                  <a:schemeClr val="bg1"/>
                </a:solidFill>
              </a:rPr>
              <a:t> | </a:t>
            </a:r>
            <a:r>
              <a:rPr lang="en-US" sz="2600" err="1">
                <a:solidFill>
                  <a:schemeClr val="bg1"/>
                </a:solidFill>
              </a:rPr>
              <a:t>Daniel.lachmakov@e.braude.ac.il</a:t>
            </a:r>
            <a:r>
              <a:rPr lang="en-US" sz="2600">
                <a:solidFill>
                  <a:schemeClr val="bg1"/>
                </a:solidFill>
              </a:rPr>
              <a:t> </a:t>
            </a:r>
          </a:p>
          <a:p>
            <a:pPr marL="0" indent="0" algn="ctr">
              <a:buNone/>
            </a:pPr>
            <a:r>
              <a:rPr lang="en-US" sz="2600">
                <a:solidFill>
                  <a:schemeClr val="bg1"/>
                </a:solidFill>
              </a:rPr>
              <a:t>Yaniv </a:t>
            </a:r>
            <a:r>
              <a:rPr lang="en-US" sz="2600" err="1">
                <a:solidFill>
                  <a:schemeClr val="bg1"/>
                </a:solidFill>
              </a:rPr>
              <a:t>Bodaga</a:t>
            </a:r>
            <a:r>
              <a:rPr lang="en-US" sz="2600">
                <a:solidFill>
                  <a:schemeClr val="bg1"/>
                </a:solidFill>
              </a:rPr>
              <a:t> | </a:t>
            </a:r>
            <a:r>
              <a:rPr lang="en-US" sz="2600" err="1">
                <a:solidFill>
                  <a:schemeClr val="bg1"/>
                </a:solidFill>
              </a:rPr>
              <a:t>Yaniv.bodaga@e.braude.ac.il</a:t>
            </a:r>
            <a:r>
              <a:rPr lang="en-US" sz="2600">
                <a:solidFill>
                  <a:schemeClr val="bg1"/>
                </a:solidFill>
              </a:rPr>
              <a:t> </a:t>
            </a:r>
          </a:p>
          <a:p>
            <a:pPr marL="0" indent="0" algn="ctr">
              <a:buNone/>
            </a:pPr>
            <a:r>
              <a:rPr lang="en-US" sz="2600" b="1" err="1">
                <a:solidFill>
                  <a:schemeClr val="bg1"/>
                </a:solidFill>
              </a:rPr>
              <a:t>Advsors</a:t>
            </a:r>
            <a:r>
              <a:rPr lang="en-US" sz="2600" b="1">
                <a:solidFill>
                  <a:schemeClr val="bg1"/>
                </a:solidFill>
              </a:rPr>
              <a:t>: </a:t>
            </a:r>
          </a:p>
          <a:p>
            <a:pPr marL="0" indent="0" algn="ctr">
              <a:buNone/>
            </a:pPr>
            <a:r>
              <a:rPr lang="en-US" sz="2600">
                <a:solidFill>
                  <a:schemeClr val="bg1"/>
                </a:solidFill>
              </a:rPr>
              <a:t>Dr. Dan Lemberg | </a:t>
            </a:r>
            <a:r>
              <a:rPr lang="en-US" sz="2600" err="1">
                <a:solidFill>
                  <a:schemeClr val="bg1"/>
                </a:solidFill>
              </a:rPr>
              <a:t>Lembergdan@braude.ac.il</a:t>
            </a:r>
            <a:r>
              <a:rPr lang="en-US" sz="2600">
                <a:solidFill>
                  <a:schemeClr val="bg1"/>
                </a:solidFill>
              </a:rPr>
              <a:t> </a:t>
            </a:r>
          </a:p>
          <a:p>
            <a:pPr marL="0" indent="0" algn="ctr">
              <a:buNone/>
            </a:pPr>
            <a:r>
              <a:rPr lang="en-US" sz="2600">
                <a:solidFill>
                  <a:schemeClr val="bg1"/>
                </a:solidFill>
              </a:rPr>
              <a:t>Mrs. Elena Kremer | </a:t>
            </a:r>
            <a:r>
              <a:rPr lang="en-US" sz="2600" err="1">
                <a:solidFill>
                  <a:schemeClr val="bg1"/>
                </a:solidFill>
              </a:rPr>
              <a:t>Elenak@braude.ac.il</a:t>
            </a:r>
            <a:endParaRPr lang="en-IL" sz="2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8804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DA0B31-EFCD-CAF9-B3F6-C762130D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The Problem &amp; The Need</a:t>
            </a:r>
            <a:endParaRPr lang="en-IL" sz="4000" b="1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1B15E-4BED-2C37-2E36-CA6AA98C7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b="1"/>
              <a:t>The Issue:</a:t>
            </a:r>
            <a:r>
              <a:rPr lang="en-US" sz="2000"/>
              <a:t> Flies cause contamination and disease transmission in homes, hospitals, and food industries.</a:t>
            </a:r>
          </a:p>
          <a:p>
            <a:r>
              <a:rPr lang="en-US" sz="2000" b="1"/>
              <a:t>The Challenge:</a:t>
            </a:r>
            <a:r>
              <a:rPr lang="en-US" sz="2000"/>
              <a:t> Flies exhibit chaotic, rapid, and non-linear flight.</a:t>
            </a:r>
          </a:p>
          <a:p>
            <a:r>
              <a:rPr lang="en-US" sz="2000" b="1"/>
              <a:t>Current Solutions:</a:t>
            </a:r>
          </a:p>
          <a:p>
            <a:pPr lvl="1"/>
            <a:r>
              <a:rPr lang="en-US" sz="2000"/>
              <a:t>Chemical sprays (Health risks, environmental damage).</a:t>
            </a:r>
          </a:p>
          <a:p>
            <a:pPr lvl="1"/>
            <a:r>
              <a:rPr lang="en-US" sz="2000"/>
              <a:t>Manual swatting (Inefficient).</a:t>
            </a:r>
          </a:p>
          <a:p>
            <a:pPr lvl="1"/>
            <a:r>
              <a:rPr lang="en-US" sz="2000"/>
              <a:t>Existing automated systems (Too slow/Reactive).</a:t>
            </a:r>
          </a:p>
          <a:p>
            <a:r>
              <a:rPr lang="en-US" sz="2000" b="1"/>
              <a:t>The Need:</a:t>
            </a:r>
            <a:r>
              <a:rPr lang="en-US" sz="2000"/>
              <a:t> An autonomous solution that operates continuously and safely without human intervention.</a:t>
            </a:r>
            <a:endParaRPr lang="en-IL" sz="20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819038-34E3-59B4-3F22-1F485FD57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0B9151A-8851-9944-9E94-322CAAE30F50}" type="slidenum">
              <a:rPr lang="en-IL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IL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54BC80-A9BF-E18E-FFF9-113149E81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5921" y="3204034"/>
            <a:ext cx="1875454" cy="163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935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60523C-180D-242A-F8F5-F3CC218C1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Why Existing Tech Fails (The Gap)</a:t>
            </a:r>
            <a:endParaRPr lang="en-IL" sz="4000" b="1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B7373-ACEC-E645-3D2F-3C54B836F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10181064" cy="3683358"/>
          </a:xfrm>
        </p:spPr>
        <p:txBody>
          <a:bodyPr anchor="ctr">
            <a:normAutofit/>
          </a:bodyPr>
          <a:lstStyle/>
          <a:p>
            <a:r>
              <a:rPr lang="en-US" sz="2400" b="1"/>
              <a:t>The "Reactive" Limit:</a:t>
            </a:r>
            <a:r>
              <a:rPr lang="en-US" sz="2400"/>
              <a:t> Traditional systems aim at the </a:t>
            </a:r>
            <a:r>
              <a:rPr lang="en-US" sz="2400" i="1"/>
              <a:t>current</a:t>
            </a:r>
            <a:r>
              <a:rPr lang="en-US" sz="2400"/>
              <a:t> position.</a:t>
            </a:r>
          </a:p>
          <a:p>
            <a:r>
              <a:rPr lang="en-US" sz="2400" b="1"/>
              <a:t>System Latency:</a:t>
            </a:r>
            <a:r>
              <a:rPr lang="en-US" sz="2400"/>
              <a:t> Camera processing + Motor movement = Delay.</a:t>
            </a:r>
          </a:p>
          <a:p>
            <a:r>
              <a:rPr lang="en-US" sz="2400" b="1"/>
              <a:t>Result:</a:t>
            </a:r>
            <a:r>
              <a:rPr lang="en-US" sz="2400"/>
              <a:t> By the time the laser fires, the fly has moved.</a:t>
            </a:r>
          </a:p>
          <a:p>
            <a:r>
              <a:rPr lang="en-US" sz="2400" b="1"/>
              <a:t>Our Conclusion:</a:t>
            </a:r>
            <a:r>
              <a:rPr lang="en-US" sz="2400"/>
              <a:t> You cannot hit a fly by looking at where it</a:t>
            </a:r>
            <a:r>
              <a:rPr lang="he-IL" sz="2400"/>
              <a:t> </a:t>
            </a:r>
            <a:r>
              <a:rPr lang="en-US" sz="2400"/>
              <a:t>is.</a:t>
            </a:r>
            <a:r>
              <a:rPr lang="he-IL" sz="2400"/>
              <a:t> </a:t>
            </a:r>
            <a:r>
              <a:rPr lang="en-US" sz="2400"/>
              <a:t>                        You must know where it </a:t>
            </a:r>
            <a:r>
              <a:rPr lang="en-US" sz="2400" i="1"/>
              <a:t>will be</a:t>
            </a:r>
            <a:r>
              <a:rPr lang="en-US" sz="2400"/>
              <a:t> .</a:t>
            </a:r>
            <a:endParaRPr lang="en-IL" sz="2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025FCB-CAE1-A8DB-D456-456106CD2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0B9151A-8851-9944-9E94-322CAAE30F50}" type="slidenum">
              <a:rPr lang="en-IL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</a:t>
            </a:fld>
            <a:endParaRPr lang="en-IL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769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D002C8-A14B-FCD0-1F7D-0647D874C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5482" y="557072"/>
            <a:ext cx="11106616" cy="1033669"/>
          </a:xfrm>
        </p:spPr>
        <p:txBody>
          <a:bodyPr>
            <a:no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Engineering &amp; Research Challenges</a:t>
            </a:r>
            <a:br>
              <a:rPr lang="en-US" sz="4000" b="1">
                <a:solidFill>
                  <a:srgbClr val="FFFFFF"/>
                </a:solidFill>
              </a:rPr>
            </a:br>
            <a:endParaRPr lang="en-IL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38186-308D-A4D4-53A2-6C15EE0E6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 fontScale="92500" lnSpcReduction="10000"/>
          </a:bodyPr>
          <a:lstStyle/>
          <a:p>
            <a:r>
              <a:rPr lang="en-US" sz="2000" b="1"/>
              <a:t>Visual Perception Challenges:</a:t>
            </a:r>
          </a:p>
          <a:p>
            <a:pPr lvl="1"/>
            <a:r>
              <a:rPr lang="en-US" sz="2000" b="1"/>
              <a:t>Small Object Detection:</a:t>
            </a:r>
            <a:r>
              <a:rPr lang="en-US" sz="2000"/>
              <a:t> Flies occupy very few pixels and suffer from significant motion blur due to high speed .</a:t>
            </a:r>
          </a:p>
          <a:p>
            <a:pPr lvl="1"/>
            <a:r>
              <a:rPr lang="en-US" sz="2000" b="1"/>
              <a:t>Cluttered Backgrounds:</a:t>
            </a:r>
            <a:r>
              <a:rPr lang="en-US" sz="2000"/>
              <a:t> Dynamic lighting and textured surfaces make extraction difficult .</a:t>
            </a:r>
            <a:endParaRPr lang="en-US" sz="2000" b="1"/>
          </a:p>
          <a:p>
            <a:r>
              <a:rPr lang="en-US" sz="2000" b="1"/>
              <a:t>The "Chaos" Factor (Modeling):</a:t>
            </a:r>
          </a:p>
          <a:p>
            <a:pPr lvl="1"/>
            <a:r>
              <a:rPr lang="en-US" sz="2000" b="1"/>
              <a:t>Non-Linear Motion:</a:t>
            </a:r>
            <a:r>
              <a:rPr lang="en-US" sz="2000"/>
              <a:t> Flies do not follow smooth paths; they exhibit rapid acceleration and abrupt turns that break standard Kalman filters.</a:t>
            </a:r>
            <a:endParaRPr lang="en-US" sz="2000" b="1"/>
          </a:p>
          <a:p>
            <a:r>
              <a:rPr lang="en-US" sz="2000" b="1"/>
              <a:t>System Constraints:</a:t>
            </a:r>
          </a:p>
          <a:p>
            <a:pPr lvl="1"/>
            <a:r>
              <a:rPr lang="en-US" sz="2000" b="1"/>
              <a:t>End-to-End Latency:</a:t>
            </a:r>
            <a:r>
              <a:rPr lang="en-US" sz="2000"/>
              <a:t> The physical delay between </a:t>
            </a:r>
            <a:r>
              <a:rPr lang="en-US" sz="2000" i="1"/>
              <a:t>sensing</a:t>
            </a:r>
            <a:r>
              <a:rPr lang="en-US" sz="2000"/>
              <a:t> and </a:t>
            </a:r>
            <a:r>
              <a:rPr lang="en-US" sz="2000" i="1"/>
              <a:t>actuation</a:t>
            </a:r>
            <a:r>
              <a:rPr lang="en-US" sz="2000"/>
              <a:t> often exceeds the fly's reaction time.</a:t>
            </a:r>
          </a:p>
          <a:p>
            <a:pPr lvl="1"/>
            <a:r>
              <a:rPr lang="en-US" sz="2000" b="1"/>
              <a:t>Real-Time Computation:</a:t>
            </a:r>
            <a:r>
              <a:rPr lang="en-US" sz="2000"/>
              <a:t> Running heavy Transformer models on high-frame-rate video (815 FPS) requires optimization.</a:t>
            </a:r>
            <a:endParaRPr lang="en-IL" sz="2000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A5978-9FC3-3D7E-41C0-BDB5D9FA5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0B9151A-8851-9944-9E94-322CAAE30F50}" type="slidenum">
              <a:rPr lang="en-IL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IL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9902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F971E1-B3B8-DAC1-DB3B-57CEF67B8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Proposed Solution &amp; Innovation</a:t>
            </a:r>
            <a:endParaRPr lang="en-IL" sz="4000" b="1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FFBDB-30C9-AE0A-CE6F-D22502954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400" b="1"/>
              <a:t>The Goal: </a:t>
            </a:r>
            <a:r>
              <a:rPr lang="en-US" sz="2400"/>
              <a:t>Build a system that compensates for latency using Future Trajectory Prediction.</a:t>
            </a:r>
          </a:p>
          <a:p>
            <a:r>
              <a:rPr lang="en-US" sz="2400" b="1"/>
              <a:t>The Solution:</a:t>
            </a:r>
          </a:p>
          <a:p>
            <a:pPr lvl="1"/>
            <a:r>
              <a:rPr lang="en-US" b="1"/>
              <a:t>Vision:</a:t>
            </a:r>
            <a:r>
              <a:rPr lang="en-US"/>
              <a:t> Detect flies in real-time.</a:t>
            </a:r>
          </a:p>
          <a:p>
            <a:pPr lvl="1"/>
            <a:r>
              <a:rPr lang="en-US" b="1"/>
              <a:t>Brain:</a:t>
            </a:r>
            <a:r>
              <a:rPr lang="en-US"/>
              <a:t> A Transformer-based AI model to predict the trajectory.</a:t>
            </a:r>
          </a:p>
          <a:p>
            <a:pPr lvl="1"/>
            <a:r>
              <a:rPr lang="en-US" b="1"/>
              <a:t>Action:</a:t>
            </a:r>
            <a:r>
              <a:rPr lang="en-US"/>
              <a:t> Aim the laser at the </a:t>
            </a:r>
            <a:r>
              <a:rPr lang="en-US" i="1"/>
              <a:t>future</a:t>
            </a:r>
            <a:r>
              <a:rPr lang="en-US"/>
              <a:t> coordinate               .   </a:t>
            </a:r>
          </a:p>
          <a:p>
            <a:r>
              <a:rPr lang="en-US" sz="2400" b="1"/>
              <a:t>Key Innovation:</a:t>
            </a:r>
            <a:r>
              <a:rPr lang="en-US" sz="2400"/>
              <a:t> Applying Transformer architecture to flies flight paths, allowing us to model irregular, non-linear movement.</a:t>
            </a:r>
            <a:endParaRPr lang="en-US" sz="2400" b="1"/>
          </a:p>
          <a:p>
            <a:pPr lvl="1"/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6D2401-8081-2016-3F4D-08114EBF3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0B9151A-8851-9944-9E94-322CAAE30F50}" type="slidenum">
              <a:rPr lang="en-IL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IL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00FABA-C6CF-B1D3-8C5A-BA05B58DE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9500" y="2933516"/>
            <a:ext cx="1592259" cy="15974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7BC938-8169-8F76-931A-AB15ADE87ED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148919" y="4429329"/>
            <a:ext cx="890920" cy="203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892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8840FE-EFEA-6D5D-F7C6-A907E7CB6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CC46DF7-2B5C-C58E-C020-C9687C712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B3B563-82A7-3A07-9050-8FD57E767A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47B6D9-DB08-EDCF-AD44-79B8867D55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62585A-E439-08FC-2ACF-FD6482A6F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6CE7C9-6585-D1E9-6F4F-6CFD484C3F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95A2D9-A3DB-B9CB-9C80-678923999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chemeClr val="bg1"/>
                </a:solidFill>
              </a:rPr>
              <a:t>Process Flow</a:t>
            </a:r>
            <a:endParaRPr lang="en-IL" sz="4000" b="1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02ACD-38CE-EE5F-41FB-07B130A08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0B9151A-8851-9944-9E94-322CAAE30F50}" type="slidenum">
              <a:rPr lang="en-IL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6</a:t>
            </a:fld>
            <a:endParaRPr lang="en-IL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5F2389-68EF-9A5B-59EC-838C69690300}"/>
              </a:ext>
            </a:extLst>
          </p:cNvPr>
          <p:cNvSpPr/>
          <p:nvPr/>
        </p:nvSpPr>
        <p:spPr>
          <a:xfrm>
            <a:off x="323903" y="3380487"/>
            <a:ext cx="1626920" cy="12135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/>
              <a:t>Receive Video Input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096B1AD-16C9-B75F-E3B5-7D2B95D27108}"/>
              </a:ext>
            </a:extLst>
          </p:cNvPr>
          <p:cNvCxnSpPr>
            <a:cxnSpLocks/>
            <a:stCxn id="10" idx="3"/>
            <a:endCxn id="14" idx="1"/>
          </p:cNvCxnSpPr>
          <p:nvPr/>
        </p:nvCxnSpPr>
        <p:spPr>
          <a:xfrm flipV="1">
            <a:off x="1950823" y="3983896"/>
            <a:ext cx="384463" cy="33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9822E5AF-6A65-AF38-DF4F-FA07CF002DE1}"/>
              </a:ext>
            </a:extLst>
          </p:cNvPr>
          <p:cNvSpPr/>
          <p:nvPr/>
        </p:nvSpPr>
        <p:spPr>
          <a:xfrm>
            <a:off x="2335286" y="3373795"/>
            <a:ext cx="1202872" cy="12202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/>
              <a:t>AI-Based Human Detection </a:t>
            </a:r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369588-CAFD-995B-FBF5-3803175A2038}"/>
              </a:ext>
            </a:extLst>
          </p:cNvPr>
          <p:cNvSpPr/>
          <p:nvPr/>
        </p:nvSpPr>
        <p:spPr>
          <a:xfrm>
            <a:off x="10182854" y="3375476"/>
            <a:ext cx="1171704" cy="12134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Track Fly Across Frames</a:t>
            </a:r>
            <a:endParaRPr lang="en-I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7258E8-99A3-D691-C665-3A629B65C420}"/>
              </a:ext>
            </a:extLst>
          </p:cNvPr>
          <p:cNvSpPr/>
          <p:nvPr/>
        </p:nvSpPr>
        <p:spPr>
          <a:xfrm>
            <a:off x="3927914" y="1891970"/>
            <a:ext cx="162692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Disable Operation</a:t>
            </a:r>
          </a:p>
          <a:p>
            <a:pPr algn="ctr"/>
            <a:r>
              <a:rPr lang="en-US"/>
              <a:t>(Safety Stop)</a:t>
            </a:r>
            <a:endParaRPr lang="en-IL"/>
          </a:p>
        </p:txBody>
      </p:sp>
      <p:sp>
        <p:nvSpPr>
          <p:cNvPr id="19" name="Decision 18">
            <a:extLst>
              <a:ext uri="{FF2B5EF4-FFF2-40B4-BE49-F238E27FC236}">
                <a16:creationId xmlns:a16="http://schemas.microsoft.com/office/drawing/2014/main" id="{8E671507-F5F9-5EE9-B384-C9FA38E3CDCF}"/>
              </a:ext>
            </a:extLst>
          </p:cNvPr>
          <p:cNvSpPr/>
          <p:nvPr/>
        </p:nvSpPr>
        <p:spPr>
          <a:xfrm>
            <a:off x="3751421" y="3373795"/>
            <a:ext cx="1979907" cy="1213511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sz="1400"/>
              <a:t>Human Detected?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437500B-3083-750C-8909-988C7805BC32}"/>
              </a:ext>
            </a:extLst>
          </p:cNvPr>
          <p:cNvCxnSpPr>
            <a:cxnSpLocks/>
            <a:stCxn id="14" idx="3"/>
            <a:endCxn id="19" idx="1"/>
          </p:cNvCxnSpPr>
          <p:nvPr/>
        </p:nvCxnSpPr>
        <p:spPr>
          <a:xfrm flipV="1">
            <a:off x="3538158" y="3980551"/>
            <a:ext cx="213263" cy="33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29C51D2-9B9D-6DA1-E59D-00C543FE6639}"/>
              </a:ext>
            </a:extLst>
          </p:cNvPr>
          <p:cNvCxnSpPr>
            <a:cxnSpLocks/>
            <a:stCxn id="19" idx="0"/>
            <a:endCxn id="18" idx="2"/>
          </p:cNvCxnSpPr>
          <p:nvPr/>
        </p:nvCxnSpPr>
        <p:spPr>
          <a:xfrm flipH="1" flipV="1">
            <a:off x="4741374" y="2806370"/>
            <a:ext cx="1" cy="5674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952E67B-08BB-BF54-C192-244B7CCB222B}"/>
              </a:ext>
            </a:extLst>
          </p:cNvPr>
          <p:cNvSpPr txBox="1"/>
          <p:nvPr/>
        </p:nvSpPr>
        <p:spPr>
          <a:xfrm>
            <a:off x="4833517" y="3007358"/>
            <a:ext cx="597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b="1"/>
              <a:t>Yes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DB001B-9420-8CDE-D4A3-86A1F612DACB}"/>
              </a:ext>
            </a:extLst>
          </p:cNvPr>
          <p:cNvSpPr txBox="1"/>
          <p:nvPr/>
        </p:nvSpPr>
        <p:spPr>
          <a:xfrm>
            <a:off x="5650439" y="3650408"/>
            <a:ext cx="597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b="1"/>
              <a:t>No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141B694-0714-D793-ACB4-9E4AD62F3A11}"/>
              </a:ext>
            </a:extLst>
          </p:cNvPr>
          <p:cNvCxnSpPr>
            <a:cxnSpLocks/>
            <a:stCxn id="19" idx="3"/>
            <a:endCxn id="44" idx="1"/>
          </p:cNvCxnSpPr>
          <p:nvPr/>
        </p:nvCxnSpPr>
        <p:spPr>
          <a:xfrm flipV="1">
            <a:off x="5731328" y="3975033"/>
            <a:ext cx="409626" cy="55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191EBDDE-4944-637D-D652-E571FECEF2EA}"/>
              </a:ext>
            </a:extLst>
          </p:cNvPr>
          <p:cNvSpPr/>
          <p:nvPr/>
        </p:nvSpPr>
        <p:spPr>
          <a:xfrm>
            <a:off x="7854569" y="5233383"/>
            <a:ext cx="1626920" cy="12135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Predict Future Fly Positions</a:t>
            </a:r>
          </a:p>
          <a:p>
            <a:pPr algn="ctr"/>
            <a:r>
              <a:rPr lang="en-US"/>
              <a:t>(Transformer Model)</a:t>
            </a:r>
            <a:endParaRPr lang="en-IL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751529E-310B-4953-F642-8D735F8BA361}"/>
              </a:ext>
            </a:extLst>
          </p:cNvPr>
          <p:cNvSpPr/>
          <p:nvPr/>
        </p:nvSpPr>
        <p:spPr>
          <a:xfrm>
            <a:off x="10182852" y="5233383"/>
            <a:ext cx="1171706" cy="12135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Build Motion Trajectory</a:t>
            </a:r>
            <a:endParaRPr lang="en-IL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F8C3A29-88C3-7217-7F78-12702CC3EED2}"/>
              </a:ext>
            </a:extLst>
          </p:cNvPr>
          <p:cNvCxnSpPr>
            <a:cxnSpLocks/>
            <a:stCxn id="16" idx="2"/>
            <a:endCxn id="26" idx="0"/>
          </p:cNvCxnSpPr>
          <p:nvPr/>
        </p:nvCxnSpPr>
        <p:spPr>
          <a:xfrm flipH="1">
            <a:off x="10768705" y="4588969"/>
            <a:ext cx="1" cy="6444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CBC3ECE-E1B2-909A-5861-6B6A023EB7D8}"/>
              </a:ext>
            </a:extLst>
          </p:cNvPr>
          <p:cNvCxnSpPr>
            <a:cxnSpLocks/>
            <a:stCxn id="26" idx="1"/>
            <a:endCxn id="25" idx="3"/>
          </p:cNvCxnSpPr>
          <p:nvPr/>
        </p:nvCxnSpPr>
        <p:spPr>
          <a:xfrm flipH="1">
            <a:off x="9481489" y="5840138"/>
            <a:ext cx="7013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9BABEF9E-1D77-D900-5593-8B640D6BBB27}"/>
              </a:ext>
            </a:extLst>
          </p:cNvPr>
          <p:cNvSpPr/>
          <p:nvPr/>
        </p:nvSpPr>
        <p:spPr>
          <a:xfrm>
            <a:off x="5282538" y="5241921"/>
            <a:ext cx="1626920" cy="12135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Align Laser to</a:t>
            </a:r>
          </a:p>
          <a:p>
            <a:pPr algn="ctr"/>
            <a:r>
              <a:rPr lang="en-US"/>
              <a:t>Predicted Position</a:t>
            </a:r>
            <a:endParaRPr lang="en-IL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EAE00D4-73D0-5796-9EDF-8938A83311D6}"/>
              </a:ext>
            </a:extLst>
          </p:cNvPr>
          <p:cNvCxnSpPr>
            <a:cxnSpLocks/>
            <a:stCxn id="25" idx="1"/>
            <a:endCxn id="29" idx="3"/>
          </p:cNvCxnSpPr>
          <p:nvPr/>
        </p:nvCxnSpPr>
        <p:spPr>
          <a:xfrm flipH="1">
            <a:off x="6909458" y="5840138"/>
            <a:ext cx="945111" cy="85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8572F915-8DFC-89AE-22BF-AF697589D3D8}"/>
              </a:ext>
            </a:extLst>
          </p:cNvPr>
          <p:cNvSpPr/>
          <p:nvPr/>
        </p:nvSpPr>
        <p:spPr>
          <a:xfrm>
            <a:off x="2881069" y="5241921"/>
            <a:ext cx="1626920" cy="12135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Attempt Fly Neutralization</a:t>
            </a:r>
            <a:endParaRPr lang="en-IL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57C10EC-ABA3-FAC0-1F00-958ED9B9F468}"/>
              </a:ext>
            </a:extLst>
          </p:cNvPr>
          <p:cNvCxnSpPr>
            <a:cxnSpLocks/>
            <a:stCxn id="29" idx="1"/>
            <a:endCxn id="31" idx="3"/>
          </p:cNvCxnSpPr>
          <p:nvPr/>
        </p:nvCxnSpPr>
        <p:spPr>
          <a:xfrm flipH="1">
            <a:off x="4507989" y="5848676"/>
            <a:ext cx="7745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F9C52B5A-7F77-5B2D-9AAB-AF127D3EB472}"/>
              </a:ext>
            </a:extLst>
          </p:cNvPr>
          <p:cNvCxnSpPr>
            <a:cxnSpLocks/>
            <a:stCxn id="31" idx="1"/>
            <a:endCxn id="10" idx="2"/>
          </p:cNvCxnSpPr>
          <p:nvPr/>
        </p:nvCxnSpPr>
        <p:spPr>
          <a:xfrm rot="10800000">
            <a:off x="1137363" y="4593998"/>
            <a:ext cx="1743706" cy="125467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D3678CD6-474E-F525-06B1-ACAEAA7EA2DD}"/>
              </a:ext>
            </a:extLst>
          </p:cNvPr>
          <p:cNvSpPr/>
          <p:nvPr/>
        </p:nvSpPr>
        <p:spPr>
          <a:xfrm>
            <a:off x="6140954" y="3368286"/>
            <a:ext cx="1202872" cy="12134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/>
              <a:t>AI-Based </a:t>
            </a:r>
            <a:r>
              <a:rPr lang="en-US"/>
              <a:t>Fly</a:t>
            </a:r>
            <a:r>
              <a:rPr lang="en-IL"/>
              <a:t> Detection </a:t>
            </a:r>
            <a:endParaRPr lang="en-US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55ADF38-3BAE-6C76-E843-D461282FC6AF}"/>
              </a:ext>
            </a:extLst>
          </p:cNvPr>
          <p:cNvCxnSpPr>
            <a:cxnSpLocks/>
            <a:stCxn id="44" idx="3"/>
            <a:endCxn id="3" idx="1"/>
          </p:cNvCxnSpPr>
          <p:nvPr/>
        </p:nvCxnSpPr>
        <p:spPr>
          <a:xfrm>
            <a:off x="7343826" y="3975033"/>
            <a:ext cx="3482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720B592B-578D-11F9-92B9-463AAECB07A5}"/>
              </a:ext>
            </a:extLst>
          </p:cNvPr>
          <p:cNvSpPr txBox="1"/>
          <p:nvPr/>
        </p:nvSpPr>
        <p:spPr>
          <a:xfrm>
            <a:off x="8711126" y="3011155"/>
            <a:ext cx="597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b="1"/>
              <a:t>No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00794A5-EE34-C91F-B21A-DD72A14C906B}"/>
              </a:ext>
            </a:extLst>
          </p:cNvPr>
          <p:cNvSpPr txBox="1"/>
          <p:nvPr/>
        </p:nvSpPr>
        <p:spPr>
          <a:xfrm>
            <a:off x="9585623" y="3639141"/>
            <a:ext cx="597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b="1"/>
              <a:t>Yes</a:t>
            </a:r>
          </a:p>
        </p:txBody>
      </p:sp>
      <p:sp>
        <p:nvSpPr>
          <p:cNvPr id="3" name="Decision 2">
            <a:extLst>
              <a:ext uri="{FF2B5EF4-FFF2-40B4-BE49-F238E27FC236}">
                <a16:creationId xmlns:a16="http://schemas.microsoft.com/office/drawing/2014/main" id="{435618B2-168B-1A95-7E02-4774C6EB183A}"/>
              </a:ext>
            </a:extLst>
          </p:cNvPr>
          <p:cNvSpPr/>
          <p:nvPr/>
        </p:nvSpPr>
        <p:spPr>
          <a:xfrm>
            <a:off x="7692080" y="3429000"/>
            <a:ext cx="1974433" cy="1092065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sz="1400"/>
              <a:t>Fly Detected?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6B76749C-F86D-444B-79F8-DD6BD5C436D8}"/>
              </a:ext>
            </a:extLst>
          </p:cNvPr>
          <p:cNvCxnSpPr>
            <a:cxnSpLocks/>
            <a:stCxn id="3" idx="3"/>
            <a:endCxn id="16" idx="1"/>
          </p:cNvCxnSpPr>
          <p:nvPr/>
        </p:nvCxnSpPr>
        <p:spPr>
          <a:xfrm>
            <a:off x="9666513" y="3975033"/>
            <a:ext cx="516341" cy="71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602ABC3A-7757-CB7F-FBF4-962EB4B391BE}"/>
              </a:ext>
            </a:extLst>
          </p:cNvPr>
          <p:cNvCxnSpPr>
            <a:cxnSpLocks/>
          </p:cNvCxnSpPr>
          <p:nvPr/>
        </p:nvCxnSpPr>
        <p:spPr>
          <a:xfrm rot="16200000" flipV="1">
            <a:off x="4907083" y="-366232"/>
            <a:ext cx="48513" cy="7541934"/>
          </a:xfrm>
          <a:prstGeom prst="bentConnector3">
            <a:avLst>
              <a:gd name="adj1" fmla="val 350868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648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156A34-315D-5363-3BB3-CD99881DA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Computer Vision (Detection)</a:t>
            </a:r>
            <a:endParaRPr lang="en-IL" sz="4000" b="1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3DA34-FEDE-7C04-0089-2490A53C9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400" b="1"/>
              <a:t>Camera:</a:t>
            </a:r>
            <a:r>
              <a:rPr lang="en-US" sz="2400"/>
              <a:t> Area-scan, 815 FPS(75mm lens).</a:t>
            </a:r>
          </a:p>
          <a:p>
            <a:r>
              <a:rPr lang="en-US" sz="2400" b="1"/>
              <a:t>Human Detection (Safety):</a:t>
            </a:r>
          </a:p>
          <a:p>
            <a:pPr lvl="1"/>
            <a:r>
              <a:rPr lang="en-US"/>
              <a:t>Uses a pre-trained robust CNN-based detection.</a:t>
            </a:r>
          </a:p>
          <a:p>
            <a:pPr lvl="1"/>
            <a:r>
              <a:rPr lang="en-US" b="1"/>
              <a:t>Challenge:</a:t>
            </a:r>
            <a:r>
              <a:rPr lang="en-US"/>
              <a:t> Occlusion(partly hidden), variable poses, varying appearance.</a:t>
            </a:r>
            <a:endParaRPr lang="en-US" sz="2400" b="1"/>
          </a:p>
          <a:p>
            <a:r>
              <a:rPr lang="en-US" sz="2400" b="1"/>
              <a:t>Fly Detection:</a:t>
            </a:r>
          </a:p>
          <a:p>
            <a:pPr lvl="1"/>
            <a:r>
              <a:rPr lang="en-US" b="1"/>
              <a:t>Method:</a:t>
            </a:r>
            <a:r>
              <a:rPr lang="en-US"/>
              <a:t> CNN-based detection fine-tuned on a </a:t>
            </a:r>
            <a:r>
              <a:rPr lang="en-US" b="1"/>
              <a:t>fly dataset</a:t>
            </a:r>
            <a:r>
              <a:rPr lang="en-US"/>
              <a:t>.</a:t>
            </a:r>
          </a:p>
          <a:p>
            <a:pPr lvl="1"/>
            <a:r>
              <a:rPr lang="en-US" b="1"/>
              <a:t>Challenge:</a:t>
            </a:r>
            <a:r>
              <a:rPr lang="en-US"/>
              <a:t> Motion blur and small pixel area.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10394-45ED-7A7B-5C90-AA43130E2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0B9151A-8851-9944-9E94-322CAAE30F50}" type="slidenum">
              <a:rPr lang="en-IL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IL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3075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D39F3F-5D11-ADAE-9779-83C15043B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69787D-12D1-E330-7FAE-479434651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137FB5-5806-AC1D-716A-4269C0FDB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A6413B-1CE8-65F8-240E-562CDAE07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C2857F-05E4-33E5-8E01-5E7CF0A13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05733F-34A2-9656-0290-3D5F91B9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0E99F4-6B9C-0773-0424-1692C7BC4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chemeClr val="bg1"/>
                </a:solidFill>
              </a:rPr>
              <a:t>System Architecture(</a:t>
            </a:r>
            <a:r>
              <a:rPr lang="en-US" sz="4000" b="1" err="1">
                <a:solidFill>
                  <a:schemeClr val="bg1"/>
                </a:solidFill>
              </a:rPr>
              <a:t>TrajLearn</a:t>
            </a:r>
            <a:r>
              <a:rPr lang="en-US" sz="4000" b="1">
                <a:solidFill>
                  <a:schemeClr val="bg1"/>
                </a:solidFill>
              </a:rPr>
              <a:t>)</a:t>
            </a:r>
            <a:endParaRPr lang="en-IL" sz="4000" b="1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1545D-2D05-96D1-1A0C-64465C271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0B9151A-8851-9944-9E94-322CAAE30F50}" type="slidenum">
              <a:rPr lang="en-IL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IL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8B2F13-00D5-0017-F5FB-12EF9048E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813" y="1594087"/>
            <a:ext cx="7608369" cy="526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265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090054-E628-F2D0-4A0A-449B8815C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B838D7-479B-D0CC-0643-7FB83C3B7A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3AB88B-B836-F167-ABBB-B50C1919F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4721C7-446C-13D6-24BB-1D81F8CB9C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DF4CDD-5928-DDBA-A077-2C05342420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E8F7C0-C3F6-900B-3C87-94A264A6D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7AE72-B5FA-5122-5F0A-4652C3E00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chemeClr val="bg1"/>
                </a:solidFill>
              </a:rPr>
              <a:t>Transfer Learning from </a:t>
            </a:r>
            <a:r>
              <a:rPr lang="en-US" sz="4000" b="1" i="1" err="1">
                <a:solidFill>
                  <a:schemeClr val="bg1"/>
                </a:solidFill>
              </a:rPr>
              <a:t>TrajLearn</a:t>
            </a:r>
            <a:endParaRPr lang="en-IL" sz="4000" b="1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884602-E074-1C9F-322C-447561C75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0B9151A-8851-9944-9E94-322CAAE30F50}" type="slidenum">
              <a:rPr lang="en-IL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IL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D242E24-78C8-6415-21F2-0FD30618B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401" y="2212124"/>
            <a:ext cx="11060875" cy="4351338"/>
          </a:xfrm>
        </p:spPr>
        <p:txBody>
          <a:bodyPr>
            <a:normAutofit/>
          </a:bodyPr>
          <a:lstStyle/>
          <a:p>
            <a:r>
              <a:rPr lang="en-US"/>
              <a:t>Handles sequences of any object motion, including small fast-moving targets.</a:t>
            </a:r>
          </a:p>
          <a:p>
            <a:r>
              <a:rPr lang="en-US"/>
              <a:t>Pre-trained on large trajectory datasets, enabling efficient transfer learning.</a:t>
            </a:r>
          </a:p>
          <a:p>
            <a:r>
              <a:rPr lang="en-US"/>
              <a:t>Produces smooth, reliable predictions for highly erratic motion like flies.</a:t>
            </a:r>
          </a:p>
          <a:p>
            <a:r>
              <a:rPr lang="en-US"/>
              <a:t>Can be optimized for real-time inference in high-speed applications.</a:t>
            </a:r>
          </a:p>
        </p:txBody>
      </p:sp>
    </p:spTree>
    <p:extLst>
      <p:ext uri="{BB962C8B-B14F-4D97-AF65-F5344CB8AC3E}">
        <p14:creationId xmlns:p14="http://schemas.microsoft.com/office/powerpoint/2010/main" val="4018085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9FDF34-514E-2116-10A2-2DD4E50B2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0D95B04-B42F-B8A3-8726-B60555BB15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A292C0-DEF3-EB03-4E93-14C80D870E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6DDB96-4442-5EFF-2B1C-29F07E664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D508C5-0C17-2949-AB1C-6B4D2079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F403F8-4462-37BA-9B10-FB5223CC8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0A18FB-EF97-B28E-8F5A-47949B5DA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chemeClr val="bg1"/>
                </a:solidFill>
              </a:rPr>
              <a:t>Loss Function- Cross entropy</a:t>
            </a:r>
            <a:endParaRPr lang="en-IL" sz="4000" b="1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ACCC5-BC6B-600B-F4C4-B04A75306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0B9151A-8851-9944-9E94-322CAAE30F50}" type="slidenum">
              <a:rPr lang="en-IL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IL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90D1CDA1-707E-9965-FF42-076AA6BDE0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1881" y="2088713"/>
            <a:ext cx="4808233" cy="12189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A9D85D-49A5-0E3A-73E9-DD9AC4A88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79" y="3550298"/>
            <a:ext cx="11079752" cy="1912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745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12FC96-8C11-B766-A6B8-EEAF35A69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12297A-5719-E06A-087B-C03395DA5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Success Metrics</a:t>
            </a:r>
            <a:endParaRPr lang="en-IL" sz="4000" b="1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66424-402B-C24E-0274-317A3E8EE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7558" y="2772073"/>
            <a:ext cx="9724031" cy="3683358"/>
          </a:xfrm>
        </p:spPr>
        <p:txBody>
          <a:bodyPr anchor="ctr">
            <a:normAutofit fontScale="92500"/>
          </a:bodyPr>
          <a:lstStyle/>
          <a:p>
            <a:pPr marL="0" indent="0">
              <a:buNone/>
            </a:pPr>
            <a:r>
              <a:rPr lang="en-US" sz="2400"/>
              <a:t>We evaluate the model's prediction accuracy using standard error metrics:</a:t>
            </a:r>
          </a:p>
          <a:p>
            <a:r>
              <a:rPr lang="en-US" sz="2400" b="1"/>
              <a:t>Mean Absolute Error (MAE):</a:t>
            </a:r>
            <a:r>
              <a:rPr lang="en-US" sz="2400"/>
              <a:t> Measures the average magnitude of errors.</a:t>
            </a:r>
          </a:p>
          <a:p>
            <a:endParaRPr lang="en-US" sz="2400"/>
          </a:p>
          <a:p>
            <a:endParaRPr lang="en-US" sz="2400" b="1"/>
          </a:p>
          <a:p>
            <a:r>
              <a:rPr lang="en-US" sz="2400" b="1"/>
              <a:t>Mean Squared Error (MSE):</a:t>
            </a:r>
            <a:r>
              <a:rPr lang="en-US" sz="2400"/>
              <a:t> Penalizes larger errors more severely.</a:t>
            </a:r>
          </a:p>
          <a:p>
            <a:endParaRPr lang="en-US" sz="2400"/>
          </a:p>
          <a:p>
            <a:endParaRPr lang="en-US" sz="2400" b="1"/>
          </a:p>
          <a:p>
            <a:r>
              <a:rPr lang="en-US" sz="2400" b="1"/>
              <a:t>Root Mean Squared Error (RMSE):</a:t>
            </a:r>
            <a:r>
              <a:rPr lang="en-US" sz="2400"/>
              <a:t> Provides error in the original unit.</a:t>
            </a:r>
          </a:p>
          <a:p>
            <a:endParaRPr lang="en-US" sz="2400"/>
          </a:p>
          <a:p>
            <a:endParaRPr lang="en-US" sz="2400" b="1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lvl="1"/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B905D-7802-1644-E664-F239BFEA9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0B9151A-8851-9944-9E94-322CAAE30F50}" type="slidenum">
              <a:rPr lang="en-IL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IL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738FAF-7D83-9BFE-CD42-716FE391020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130175" y="2792279"/>
            <a:ext cx="3076448" cy="5811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A13B15-1FE5-A90E-E1AD-E5C4EE16E757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130175" y="4131450"/>
            <a:ext cx="3123133" cy="5801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B77B3B5-4724-E314-8E6F-E9A6D918533C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3951388" y="5469656"/>
            <a:ext cx="3480706" cy="71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45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16AE59C-6C20-544F-B59C-1B7EB1B0CF4B}">
  <we:reference id="4b785c87-866c-4bad-85d8-5d1ae467ac9a" version="3.20.1.0" store="EXCatalog" storeType="EXCatalog"/>
  <we:alternateReferences>
    <we:reference id="WA104381909" version="3.20.1.0" store="en-US" storeType="OMEX"/>
  </we:alternateReferences>
  <we:properties>
    <we:property name="EQUATION_HISTORY" value="&quot;[{\&quot;mathml\&quot;:\&quot;&lt;math style=\\\&quot;font-family:stix;font-size:16px;\\\&quot; xmlns=\\\&quot;http://www.w3.org/1998/Math/MathML\\\&quot;&gt;&lt;mo&gt;(&lt;/mo&gt;&lt;mi&gt;t&lt;/mi&gt;&lt;mo&gt;&amp;#xA0;&lt;/mo&gt;&lt;mo&gt;+&lt;/mo&gt;&lt;mo&gt;&amp;#x2206;&lt;/mo&gt;&lt;mi&gt;t&lt;/mi&gt;&lt;mo&gt;)&lt;/mo&gt;&lt;/math&gt;\&quot;,\&quot;base64Image\&quot;:\&quot;iVBORw0KGgoAAAANSUhEUgAAAa0AAABWCAYAAAB8dMlZAAAACXBIWXMAAA7EAAAOxAGVKw4bAAAABGJhU0UAAABEsZUXFwAADCtJREFUeNrtnXFk19sbxx+ZyTWRmUkSMzOTxGSSzJjMNZORSZLEZJIrMT9JMpEkc01MruRKJJnM1T/JJD+RXHPNRDJJMpLMTOL+vo+++/Xd2fmcc77b9/v9nOc57xfnr9b2Oc8553l/Puc853mI8mNboQ0QAEAa9YU2UWxbYY5o2A6fWj0GC+1joX0rtBaYAwBRjBTav8V2FuaIhqnimDwutJ0wR2VoLLSHJRP+afHtAAAgh7mSNfwG5oiGCyXj8qXQjsEkm6O30D6VGPVeodXBLACI4lDJGl5tv8Is0dBXaF9LxuYOYQt3Q1w1JvkETAKASKYsovUMZomKfcYHwmyh7YJZwuDtwKfGBL8JswAgEnZ83y2ixa0d5olurBZKxodF7CDM4oYDLN4ZE/sGzAKAWK5nCBa3WzBPdOwwhGuFEF2YSZfxecrtNswCgFj4/HnRIVocCdwEM0UpXB+MsUKAhkEPrT0I5PYIZgFANMMOwVptF2GmKGm3vHAMwSw/6C60JcM4LwnRKwBI53WAaL0vtC0wVZTweZZ5HtmfulG6LF9YvEXYjPkCgHiH929gOwFzRcsZY6yWC60zVWPspvVnWKzqhzBPABDP/TJE6zXMJWosOTPRjtSMwBkt3lgm7xXMDwDEs5Oyw9yzWhfMFrW/NgMz+AgnqUQPj/G2tQY+15vCV2ZZ8IKZyGhHYZ5cuVymYHF7ALNF7Tv6LWM2noqRRy2d57eyjkQnHV/o+1K0wxmswWDqHQ4Q2VPyg4MqzG3/9wGixT5gN8wXte+wZTY5rN3IezO2DcYTXuAvSuywB+sQoiWckxYxOkhh24XXYb6ofUerZRx523CbZiP/Y5moHO7emOjEm6S1UZMAoiWdV8ZYPHS8pZuNvxpw1SVu3zFpGbdJrUbO2ue+muiku2DY4S7WIURLOJ2Wsegu/ls3hZ1tjcCMUfuOtoxx26/NyLz3ukL2NC4p3skasdgCt80hWtK5Y4zDrPHvcwGiNQ8zRu87nlACgXR3MybovQQn3fkMWzRiPUK0BNNUfAl1fTWNBH5t9cGcUfuO4xnPcVyLoTswOf/PTcLlSoiWTsztfz6rNs+nfqH1Kdts7QnMGbXvqLe8oHB7S0pScmXdjF+idHKO8eW8aULUFERLJ7yOzbD2rBp444FfW6i1FbfvyAqsGZZu8BaHse8nMukO0PoaYcnddYBoqWbIMgatGT/bHihaqLUVt+84nfE8b6Qb/YbD2CeVT7gGxye9GYyCLNcQLck8p/K2954GrotUz3kl+A7XB8kRqYb3FYBrUTrh+EB61NP30vYYPg+iJZh9G3j77w9cG6OJ2VKa7/iY8VwzUgdg0GHsRYWTbYx+XKwsN1GoryGJMEQrZszLpqHbQwuEWlvSfccDx99ukzgYjxwdeqho0vEdtE8VnmwqPrUhWurh7Tsziux84P8dJdTaku47Ljr+trikEXVkD4lcbdcUTbxjVZx03FJNJAzRih9TeDiBQGgeuiaPjygtgaEV6b7jiONvv5M2GAMeY6aU/cG1P51qomCIlnx4287c4is34u92oPPdn6iNY/cdOzWN2++ezqRSN2qvxw798H0QLaEMVODNvjNQtO4naF8pvsN1DifqPP5vj8HrE5l458hdP6iOAERLJjOGzZ9v8Pe8orBaW7sSs68U3/HW8ZyvJDkTl/quJDTxXMEoz+D3IFpCsV0Q3mi16FOBX1upVYOQ4jumPOIqotRML/nDWFOA9/yXHXa4DN8H0RLKLapcaDp/MYRE0H1OaIdGku+4SwqOQE4TLtMyhzx26Ibvg2gJpMHiUC9t8neOEWptSfUd1zzPKuLl3Ke8DxKZeK47DMuE1E0QLZmY5TE4bL1pk7+Tz6tCLtbOw3dE5ztOesZMxJ3cx55O3Elk4rnyqz2C74NoCcU8eK9U1dypwK+tXviOqDhKCo6DfOlZUsje7Ltc/Rt8H0RLIH1Uvbs43YGi9QS+Iyp8eSS/k4BdpRVPJ24murhL2x74P4iWQMwy65XOVjFHqLUlzXf0BYxXa8wG3xLQgdMJLG7X4eQiAYiWPNqo+uWFRgi1tqT5jp6A8Yq6Qv0vAR04mcACf0np3u7vpermU4up3U5ItG5aHOiWKviPJQqrI7UNviMKdgSM12DMBt9OaWdtZjgk+HvCog3R0odNTMaq9LfGKd1aWxJ9R0PAWB2P2eiHCKI16Om/9nQ0EC19mNt21Uyr1B5oe421tiT6jhDROiXdYWkXrQlH398m4OAgWvqYp9revXkWaP9j8B1RfIWLjmMIOZQ7kdgCT83JQbR0YVvT1c7IMBBo/xfwHblTHzBOYzEbvSNx0WomwQeSEC2IloVpo8+zNfibtlpd2mttSfUdW6V/aYXsb2oORBgi9yW77RAtiJYgdlN++f8uBo7BPfiO6H1+1GdadZT2Pa0/Hf1+TaBW2xK4p1UZrht2XaLalZrgfIbfAvyJllpbUn2H+OhBIn/iS80O5aOj39fhAyFawuz71bDrjRo/w53Ar60x+I7cCLnmFP2xiK82zqTSRd5GCurKQLRAkTMWu7bU+Bk6A0VrkWTX2pLsO0KuOfXFPgDTlGaW92Fy3+CvIwDRksMsxZGo9lWgcI3Ad+TCYRKee5BJtZ7WA0efn8IHQrQEYXt7PpzTs5wKFK1/4DtyQUWW93OeTvyldKF/dfT5EgGIlhweGvZ8k+Oz8FfGYqBwdcN31BxfPa1PEgbgV08nPihc5Ps9fT4APwjREoKtivD5nJ/paqBoPYHvqDm+ysUiCt760nqsKFzo50lOeWyIFnAxZlmveWdUtwmpllpb0n3HFVJSP9FXzK1e2UKflv6mAdEC9GMrzoz+jaV21VSgaP0O31FTfDEMR6UMxKSnIz2KFjq/CbkuQZ6FL4RoCcEW9NARybN1B4rWMsmptaXBd/heJnZImfy+FPtDiha6L0mwa9Hz4uLAlMMEIFr589qw4/PInm+edNXa0uA73pGSqhZbPW8Q1xQtdNeeri9yZvUtpRP+EqKVMwco/kwGZwNFa4FknCNL9x1sY9dZ4y1piyCVc54Z2lgyz/8Uf+Yq/CVEKwLM3HcxFlnkPHdLgcI1BN9RdVo9YyBuB8kVCrmoZKHXed40shJFrl4LmCN9QSkQLXk0W+ZxrPeDJkhHrS0NvsN1DPSVBEZNc+i7a4twp4LF3udZOLY+7ikOKE/YvfCXEK0IuEzrUwc1Rfqs7RReOqYTvqOquO7PiS3b8wfpDsa45OjfF8vPcyTNB4rjwiZEC1DxbdgMc489P+hMoGj9Cd9RVVxHQGITKriyNGtInOsatGeWSbca/TQNXwnRioTjJK8asC86uTTvXTN8R9VedlYynv9v6Yvivxkd+6hgwS+TO/NHW3Fwj9LPejkcBppCBWOIlgxeGLZ7KeTrcCFQuK7Ad1SFgyS0UnEIA47O7RPcryYqvzw7B6C0EIBoxb8ToqXFWGtLg+/ICtePMep0Q8xmdFByuHdXmZPus4BtF4hWWvyRgGhxG4bvqJlPP6dlcRxxqLJU6jyf+OZlxw74SIhWZG/73xIRrVn4joqyN+NZ35Gy5OAvSV8Z+pAb+vw2izMsiFZsXExEsGKttSXZd4xnPO+gtkWyj8IiZaTBossRPXx/gg9Q+cY+52zjrc92AhAtAPT4jm1kz0qitjr77Qwn04X5CyBaAETPZct6YxFTG2DWSOsvMnKbwVwAEC0AoqYp4ytrRHvHs0LgBzAnQJmitZLRxmEeACqObadsOuXOc+RJA+YFAABEh+0yMUc2NqZiAE6ma4vzx7YOAADERQOtL/bIIfvJJfzmg7tFi3D1Yo4AAEA03CNdV5U2Bd+dMC84cqBGM+YJAADkzohFsE6nbpQhi1E4yW4d5gsAAORGD60vVHkBZvnBGYtw3YdZAAAgFzh11GfDJ6MGoMEw6UqoCwAAEtlNP8uhYEvQwzF8jgIAQG7sop8VklejBHGH1kOP5bP0N5gFAACqLljvaW2h3k6YJQyu2jlvCNcozAIAAFWhg9ZuCXJqvSaYpTz4QttdQ7huwCwAAFBR+OpR6e7WFZhkcwwZBuWownqYBQAANs0J+nlXdoHiqzsmluaiWLFhufZMK0wCAACbgqsMzxX96i1C7teqwEEa/TADAABUBE6bd1B7J/8HvrHzp5QmrEAAAACydEVYdE1hdGhNTAA8bWF0aCB4bWxucz0iaHR0cDovL3d3dy53My5vcmcvMTk5OC9NYXRoL01hdGhNTCI+PG1zdHlsZSBtYXRoc2l6ZT0iMTZweCI+PG1vPig8L21vPjxtaT50PC9taT48bW8+JiN4QTA7PC9tbz48bW8+KzwvbW8+PG1vPiYjeDIyMDY7PC9tbz48bWk+dDwvbWk+PG1vPik8L21vPjwvbXN0eWxlPjwvbWF0aD68EL4VAAAAAElFTkSuQmCC\&quot;,\&quot;slideId\&quot;:259,\&quot;accessibleText\&quot;:\&quot;left parenthesis t space plus increment t right parenthesis\&quot;,\&quot;imageHeight\&quot;:13.76},{\&quot;mathml\&quot;:\&quot;&lt;math style=\\\&quot;font-family:stix;font-size:16px;\\\&quot; xmlns=\\\&quot;http://www.w3.org/1998/Math/MathML\\\&quot;&gt;&lt;mi&gt;M&lt;/mi&gt;&lt;mi&gt;A&lt;/mi&gt;&lt;mi&gt;E&lt;/mi&gt;&lt;mo&gt;=&lt;/mo&gt;&lt;mfrac&gt;&lt;mn&gt;1&lt;/mn&gt;&lt;mi&gt;N&lt;/mi&gt;&lt;/mfrac&gt;&lt;munderover&gt;&lt;mo&gt;&amp;#x2211;&lt;/mo&gt;&lt;mrow&gt;&lt;mi&gt;i&lt;/mi&gt;&lt;mo&gt;=&lt;/mo&gt;&lt;mn&gt;1&lt;/mn&gt;&lt;/mrow&gt;&lt;mi&gt;N&lt;/mi&gt;&lt;/munderover&gt;&lt;mo&gt;|&lt;/mo&gt;&lt;mo&gt;|&lt;/mo&gt;&lt;msub&gt;&lt;mi&gt;p&lt;/mi&gt;&lt;mrow&gt;&lt;mi&gt;p&lt;/mi&gt;&lt;mi&gt;r&lt;/mi&gt;&lt;mi&gt;e&lt;/mi&gt;&lt;mi&gt;d&lt;/mi&gt;&lt;/mrow&gt;&lt;/msub&gt;&lt;mo&gt;(&lt;/mo&gt;&lt;mi&gt;i&lt;/mi&gt;&lt;mo&gt;)&lt;/mo&gt;&lt;mo&gt;-&lt;/mo&gt;&lt;msub&gt;&lt;mi&gt;p&lt;/mi&gt;&lt;mrow&gt;&lt;mi&gt;t&lt;/mi&gt;&lt;mi&gt;r&lt;/mi&gt;&lt;mi&gt;u&lt;/mi&gt;&lt;mi&gt;e&lt;/mi&gt;&lt;/mrow&gt;&lt;/msub&gt;&lt;mo&gt;(&lt;/mo&gt;&lt;mi&gt;i&lt;/mi&gt;&lt;mo&gt;)&lt;/mo&gt;&lt;mo&gt;|&lt;/mo&gt;&lt;mo&gt;|&lt;/mo&gt;&lt;/math&gt;\&quot;,\&quot;base64Image\&quot;:\&quot;iVBORw0KGgoAAAANSUhEUgAABeoAAAEeCAYAAAD1tyW3AAAACXBIWXMAAA7EAAAOxAGVKw4bAAAABGJhU0UAAAC1ey/VnQAAS0tJREFUeNrt3QHoHGV6OP6HEIKIyIWcxOCJh4gEERFS8cSKFYKIBAmhkgYrKhYJIiIS8MQLKiIVf+JfrFgkSAgiAStWPPEEkSBBRCpWUvGCRxAJEoIQJRc0xED/+97ut9nsd2Z3dndmZ3bn84GX9sx+Z2bfmZ1n5pl3njcCAJgnGzvtf8doxzptVUnr3jzmuvvbS3YdAAAAAACL4IpOe63T3u+0U1EsSX5fSeve0GlvddqhGC9Jf7DT7rHrAAAAAABYNGmk/IOddjyGJ8o/r2DdazvtsSHrTA8Rnuq0S+0mAAAAAAAWXRrpPipZf21F685K1p/utJvsFgAAAAAA2iSVlhmWqN9T0XpvzFjXc3YHAAAAAABt9E0ML0VzQQXrXBvLR9OvtSsAAAAAAGiblTF6ctmdFaz35oF1vG1XAAAAAADQRrfF8CR9at9WsN77BtZxu10BAAAAAEAbvRSjE/WpbSp5vW/G2eV1VtkVAAAAAAC00ddxJmH+UeQn6j8scZ0rOu2nvmW/azcAAAAAANBGl8eZZHlKnF8S3Uld85L1l5e03hsHlnufXQEAAAAAQBs9FGeS5Xt7/+3tyE/UP1/Sep8eWO46uwIAAAAAgDZ6P5aPah8c7d7fTkQ5teQ/61vmF3YDAAAAAABttDK6k7guJcwv7vu3g5GfrJ+2TM3qgeU9ZVcAAAAAANBGm+NMsvzrgX+7P/IT9dOOgN86sLzr7AoAAAAAANpoV5xJlr808G/nRrfMTV6y/vop1ru3bznH7QYAAAAAANrquziTMN+c8e8vRH6i/vUp1ns0lk9gCwAAAAAArbI+ziTLU536lSM+M9jS36ydYL0bBpazza4AAAAAAKCNHo4zyfIPh3zuw8hP1u+cYL2P9f396ehOLAsAAAAAAK3Tn4B/ZMjnNkV+ov5wp60Yc737+v5+v90AAAAAAEAbrYruaPalhPmGEZ//NvKT9ZunWO9jdgUAAAAAAG20Jc4ky78v8PkdkZ+o3zfGejcP/O0GuwIAAAAAgDZ6Nc4ky/cW+Pya6E4em5esX19wvbv6/uao3QAAAAAAQFsdiTMJ820F/6Y/yT7YXii4jEN9f7PbbgAAAAAAoI2uirOT7BcU/LurIz9Rf6LTzhnx95fH5LXtAQAAAABgYfTXm/9izL/dH/nJ+vtH/O0DfZ9NZXRW2RUAAAAAALRRmvx1KWH+7Jh/e0fkJ+oPjPjbt/s++6HdAAAAAABAG53XaafjTML85jH/fkWnfRf5yfrrc/5uZZw9Ge3DdgUAAAAAAG20Nc4uP7NigmU8HvmJ+r05f3PLwOfW2xUAAAAAALTR7jiTLH9nwmWsjbNH5fe3071/H/R832cO2Q0AAAAAALTVkTiTMH9wiuXsjfxR9TszPn+g799ftBsAAAAAAGijDXF2Qv2KKZZ1XeQn6g/H2SV11g38+612BQAAAAAAbZRGuvcn06f1eeQn67f0fe6emL4uPgAAAAAAzL39cSZhvruE5d0X+Yn6fX2f6y+T847dAAAAAABAG50fZ08Au6WEZa7stO8jP1m/Prqj54/3/bftdgUAAAAAAG20Nc4ky1PC/vySlvts5CfqX+i06wf+28V2BQAAAAAAbdRffubjEpd7SeQn6k902jN9//tLuwEAAAAAgLY6GmcS5k+VvOz3Ij9Z319u51m7AQAAAACANrouzk6e31jy8m+K/ER9f7vJrgAAAAAAoI2eizPJ8p+iO8Fr2Q7G8CR9VesFAAAAAJh7q6NbCuUVXbGwDsWZhPkbFa3jgRieqN9rNwAAAAAAnO38Tns8uhN+pkTqcV2ykAbL3txf0XrO7TuWstoddgUAAAAAQNd5nbaz036MsxOpEvWL6ZWB/XxLhet6IfIT9WvsCgAAAACg7dKI58c67VhkJ1Il6hfPBZ12amA/r65wfetzjq1P7QoAAAAAoM3O6bQdnfZ9DK8hLlG/eF7O2M+rK17nhxnrfNKuAAAAAADaaFWnPdxpR2J4gl6ifjFtydnP91e83k0Z67zW7gAAAAAA2mRlpz0UxRP0EvWLJY2YT5MEn87Zzz912qPRLYtTlW/71ve9XQIAAAAAtMWKTnug0w7HeAl6ifrFcFOnfRT5Cfqs9lWnvdFpG0relkf61rHHrgEAAAAAFl1K0G+PM6OYU6J2f6ft6rTnOu3jkKhvg3tjsgc0qW0ueVvWxJlJbG+3awAAAACARZdGRaeE6Ged9mBklzR5NSTqma00kW0qs3OergAAAAAAFl2qR37FiM+sDYl6AAAAAACo1dLIe4l6AAAAAACowdshUQ8AAAAAALV5KyTqAQAAAACgNhL1AAAAAABQI4l6AAAAAACokUQ9AAAAAADUSKIeAAAAAABqJFEPAAAAAAA1kqgHAAAAAIAaSdQDAAAAAECNJOoBAAAAAKBGEvUAAAAAAFAjiXoAAAAAAKiRRD0AAAAAANRIoh4AAAAAAGokUT+d9Z32hDa37R8cwgAAAABA3STqp7d/RB9qzW1POHwBAAAAgLpJ1E8vjar/a0h6S9QDAAAAAExAor4cd4ekt0Q9AAAAAMAEJOrLszskviXqAQAAAADGJFFfnvM67c8h+S1RDwAAAAAwBon6cl0Z6tVL1AMAAAAAjEGivnxPhAS4RD0AAAAAQEES9eVb2Wn7QxJcoh4AAAAAoACJ+mr8JpTAkagHAAAAAChAor46/xLVJpk/iG6ieRHav3fa7k77U6f9T6d9HxL1AAAAAEBLSNRX67WoLsmcktkXLnDf/brTNnbajk77Y6f9EBL1AAAAAMACkqiv1nmd9peodlT9ypb0Zfqet0T34cfPIVEPAAAAACwIifrq/V2Ul1jOar9vYZ+mNwn+NaYfZf+EwxMAAAAAqJtE/Ww8FNXWWt/Y0n5NCfs/hkQ9AAAAADDHJOpnI5Vt+SSqS9QfjsWuVz/KA532S0jUAwAAAABzSKJ+dn4T3Qlg1auvxj/H+Mn6JxyWAAAAAEDdJOpn65+j2hI4v295/45bYugJhyQAAAAAUDeJ+tn7z6guUZ9GlP9dy/t3b0jUAwAAAABzRKJ+9s7rtL+EevVV+VWnHQmJegAAAABgTkjU1yONep9k8tOiLY3ab3O9+n8KiXoAAAAAYE5I1NdnR1Rbr/6Blvfv/pCoBwAAAADmgER9vf4U1SXqf+i037a4bzeHRD0AAAAAMAck6ut1WXQT6lUl6/8r2l0C539Coh4AAAAAaDiJ+vr9Y1RbAudfW9y3d4dEPQAAAADQcBL1zbA3qk3Wb2ppv57XaX8NiXoAAAAAoMEk6pvhV512OKpL1H8f7a1X/1pI1AMAAAAADSZR3xy/67RfQr36sg2bVPYJhx0AAAAAUDeJ+mb5Q1RbAuepFvbpryP/AcgTDjkAAAAAoG4S9c3zQVSbrP+HFvbpf4dEPQAAAADQUBL1zXNhp/0Q1dar/03L+vSJkKgHAAAAABpKor6Z7o5qR9WnUfttqlefV6f+CYcaAAAAAFA3ifrm2h3VJuv/0KK+PC8k6gEAAACAhnonJOqbKiWX/xLVJerTBKu3tKg/vwmJegAAAACggQ6GRH2T/V10E+pV1qv/dUv68rWQqAcAAAAAGubcTjsdwxO56d9X6Kpa/SGqr1d/Tgv68fchUQ8AAAAANMy9USyRe5Ouqt3+qDZZ/0QL+nBTSNQDAAAAAA2S6p8fiuIjrqnXbzrth6i2Xv3ft6APJeoBAAAAgEZY22kfxXiJ3JdCCZy6/VNUO6r+SKdduOB9+A8D7bcOKwAAAABgVlZHt/RHSrifiMkSud902uOddnOnrdKltdgb1derBwAAAACgBNdHd4T0sU47GdUkdU/2lp/Wc7sun4lfddrhUK8eAAAAAKDxNka1ydzBdqcun+m+/aXi/fkPuhkAAAAAAPL9IapN1KdR+7/WzQAAAAAAkG1lp30S1Sbr/9RbDwAAAAAAkOGyTvtrVJus36GbAQAAAAAg3z9GtYn6nzvtat0MAAAAAAD5dke1yfojoV49AAAAAADk+lWnfRPVJuv/I9Srb7Jbh+y7WxdgfUB9zu+023TDMqv1C4B4iHg44/sk92EAMAdSeZqfo9pk/RO6ubUXhC4QoZ22RPetqlOddqnuOMvbvXPeO512ke4AEA/FQ/EwJOoBgJ7fR7WJ+l867Xe6uZUXhC4QoV3WdNqbfb/rD6M7Yo4zdvT1z4+dtk2XAIiH4mHr4+FCJup3lZRQeKXBO+6DEr7fxpq/w+N92/LInPwo5qltcr4HJrC/4nPTX6Jbaod2XRA24gIRmIl0j3G07zf9eixO6bNrOu39Tvup19Lov2kmTL+l04739VWaM+YchxCAeCgetjYeLmSi/p7oPrFKyYaTUyQT9jZ0p22fMkmSnlC91WlX1PgdLur9mJvY1xd32oud9lqnvddpJ2I+E/Xni4vABC6M7muZVZ6f/qibW3dB2IgLRKByTw/8nl9aoO+2OeecdbrTtk6x3KsHEjkHevcjAIiH4qH7soUsfXNlp+2cIPHwQQN3WKplNUni+PvojmC/vCHfY+/A9n3R8B9KOjnsGDhpNLl9Jy4CU/inGZyn7tbNrbogbOQFIlCa9Gr/hwO/5ecX6PulMgXHh5y30uCw9VPea3zbt7x0z3G9wwpAPBQPWxcPW1WjPh1Qn46RRDjWwB328QTJkPejWTWwbozsJ28r5uAHc0mc/SbAqJZOUk/3DvbzCnzHVdF9vSeNhr+h93e3d9qDnbYnum+JnC6w3jfER2BK/xHVJur/OuVFHPN1QdjoC0RgKmkg0TcDv+PnFuw73l8grr065TrWDSQn0n3EbQ4vAPFQPGxVPGzdZLKbxkginG7YznpkgkTIV9Gsuk4pUf1lzrZeMSc/mjfG6P8qJsFINc1S8n7YQ5sdYiQwpV9lXGiW3f4n1KtvywVh4y8QgYlcG8vfON21gN9zTxR7g3laKTnx3QzuJwAQD8XDdt6XNe4+7OYxkwgXNGRHpST2qQmSIDc37IB7eMi2bpmTH83uaM4bGXdKcgAVSnUCf4lqk/X/pptbcUHY+AtEYGw3xfLX399a0O+6t2BMK8P6XpKjf7lbHW4A4qF42Ip42LpE/T0xf4nuNAr9wATJj0MNO9jSQ48fh2zvUwt2YprVBLmPZqy7rbNjA+X716i+Xv123bzwF4SNv0AExpJKWQ7Om/XpAl+Dvlgglh0ucX2pHu9guctNDjsA8VA8XPh42LpEfdEk61K7vQE76ckJEx9NS3y/GotRV31f1Ff2Jkuqa3+yb71fi5VAyfZHtYn6H6I78TuLe0HY+AtEoLD0ev/gyMH0uv/aBf7ORd7KLrsO8faB5ad5sjY4/ADEQ/FwoeNh6xL1R8ZMHjxY8w66ZorEx7UNOtCuLrC985JgPlmw/9fMcJve7lvv6+IlULILY/lrh2W3T6I76TaLeUHY+AtEoJBLYnkN3jTS7YYWfPdPYvjowSqu/QcHmaV72XUOQwDxUDxc2HjYqkT9hgkSB3VO/pBelTkYyyeHbUp99HF8HsUm713R8B/MRQX7/7MZb1f/hB4PiJlABf45qi+Bs0s3L+wFYaMvEIFCVkd3YM3gb/bJlnz/VMbzo5zr/ksq7PPByfRSSYWVDkcA8VA8XMh42KpE/WMDG1BkZPSbNe6cF2J5IvuRaFZ99CLui+JJmmsa/oO5PZpZdqi/rNBGcROoyK6oPlmvBu9iXhA2+gIRKOSdjN/r5y3sh+uiO+/ZvdGtTVy1TRn9/oLDEUA8FA8XMh62KlE/+MSnSL36T2raMTdG9tO5pwsmOu5oyAGWnnqNUy6h6TM4F01SXTfj7VoaUZ8e5hhhA1Qlven131F9vfpf6+qFuyBs9AUiMFLWYKF03XmFrpmJtzP6/2bdAiAeiocLFw9bk6g/L86eKfh0FJsE4XgNOyVt67cD2/FFdMvCfFYw0dGUWk3Px3gJmmcb/oM5VOA7nKhhu97orfuA8zZQsd912i9Rfb16Dx0X64KwsReIwEhXDdxHGdU9e5dl7INUAuB8XQMgHoqHCxUPW5Oo3xrLayetKpgwmHXd9Fdj+dO5K6M7IUOR7f2iIQfXFQM/oFMFtv2tBv9YLo/mlh1aevXqNedtYAZ2RPUlcJ7SzQt1QdjYC0RgqHQf9GVkD0xZo3tm6pWM/fCKbgEQD8XDhYqHrUnU785JABSpU3/ZDLczq+bSzt6/bY35GpXeX2roSO97jNr2ww3+sTxQsP/vrGHbliYdvtc5G5iRfaFe/SKRqAeyPJ7zO31a18xc3qCha3QNgHgoHi5MPGxNov7IwMqXJjr4ukCiYFYbuiZjO/tHxxepqd+UyUS3DWxTmmBiU8Htb2q5g7ej2WWHzgmlIoDZuTAjZpXd/tpp63X1QlwQNvYCEch1cWQPakpvya7VPbV4P0xgCCAessjxsBWJ+g0DK/4pzpSzeSeaM8Hpmxk/+v4JKY4W2Nb+71aXc6M7Mr6/zFCyOoolZm5o4A9lRRQr3fNFALTHP0X1o+r/SzcvxAVhIy8QgaH25PxGX9c1tbkjZ5/coWsAxEPxcCHiYSsS9Y8NrPjNAj+4rNIzVdqWsd5H+/796oIJjSbUeH96YJuu7vu3EwW+w7YG/lA2Fuz/Z5wvgZbZHdUn63+vm+f+grCRF4hAriuG/EZv0T21SXOsZQ0eOhT1D9YCEA8RD5t/n9SI+7DBOrrb+/7t8QIJgt0Vb18qlXJsYJ2fDnzm4YLJjO01H1CXDvxYdg38+7sFvsPLDfyhPB3zU3YIYJZSya3/ieqT9S6E5/uCsJEXiECuvJKbJ0JCuG555Tjv0zUA4qF4OPfxcOET9ed12umBFV/S9+93RP2j1AdrK6XaV5eP+Exeu7zmA6o/Ef9jLJ/9+uWYj7cCBn0Wsy07dFF0HxDd5NwLzIEro1tPvspE/Q7dPNcXhI27QARyXTrk97lX99Tu3px987WuARAPxcO5j4cLn6jfGstfg+hXZILTLyvcvu0Z63t44DNptGKR+uiHaj6YBvvygYzPFHkwcqxhP5ILolgSqcwT9TO9ZT7r3AvMie1RXZL+gzBZ9rxfEDbuAhHI9dyQ3+dduqd2wxJHm3UPgHgoHs51PFz4RP1g7dzBsirro9hI6aoOquMD6/ok43O3FUxk1FkyJiVQDvVty4Gcz11X8LusatCPZGvBbS7r9Zrz+o4LpXSAefJBlJ+k/6bTfqVr5/6CsGkXiBf11nNn7yYsPWz/qBd/7y3w99dGt3xiegvwSHTfhjzd+7/f9f77I512mUOLOZOu6b8f8vu8tMV9s6534/9I75zxVdT39uuRnP3zkUOYGRNPEQ/FQ/Fwvu6Tak/UD+60zRk/vroSx/tjeY2rrB/7iwW3sc4nRjsHtuXGISe70zFftYj3Fuz/i0pa39Lkx2WW0gGYhQs77YcoL0n/c6f9vW5diAvCWa9vVe+GYUt0yybt6bR3eteFo65Drh2yzPTW4zdjHsfvSDAwR7YMOZa/b0kfXNA7D93Taa9G9yH0iYz+SOeS1TVt4xvR3FKoLBbxFPFQPBQPF+u+rNZE/YaBFZ6K7IT7iQJB4aqSt21HxjoeyPnswQLbl/fdZuGigT58fcTni3yfJr1GdDRmVx4pjaZfmlhYzTNgHt0S5SXq79adC3NBOMv1PTXFMXc0Z5lpMMThKZabrpNuc5gxB94achy/uWDfNd3fpTeSX4vuhHRpRODJMX7Xn9S47Y8N2a6nHcaURDxFPBQPxcPFuy+rNVE/uMM+zPlckYlCN5W4XeszDvq81zIuKvjD+LDGg+j1gcA5amT5GwW+z66G/ECuLtj/L5S0vv4aaGqeAfPqiZg+SZ8uFNWlX5wLwlmuL422u7fXUlm6NALoQMHjbvfAstID9L1R3sMn9fdpslHzYj2zYN/3zil/z0/VuO2bY3jJOCiDeIp4KB6Kh4t3X1Zron7fwAofyfncWwUOvDtL2qZUyuSLWP5U+JKcz99T8IfxSE0H0A0TbMfjBb7P+w35gewo2P83l7CuaweWuU58BOb44vbPU1zs7e/d0LE4F4RNuEB8OMYrI5gGHnwVZ7+9uKf3mTV913Xre8s+UmD5x8R3GmzUvFhbF+z7rujFmvM77ZrovhGW7vmKzrdyY43bPmow1zUOZyokniIeiofi4fzel9WWqE8H2WDNtA05n91d4MB7tqTtejJj2duHfL7oU+cNNf2Yv+zbhoNRrKb65gLf53hDfiAfRrGyQ9PWkr9s4ILk84adKDZG+RNENrW95boESpFutn6e4Df4Q6g/uogXhE25QDwYxcoIppqW3/X928sFEgIXDFwX5bVXHG401Kh5sW5oUV/sG9EXTZhLalh98CcdzlRMPEU8FA/Fw/m8L6stUb81ik/2UOSJ8J4StumajAPogyGfTwf78Zi8/lvVBvut6KjySwoma1bX/OMY9bpT/6Q207g9ltfBf6phJwqJemASf5zgN7hJty3kBWFTLhA/HbLe9/quU5Yenqc6utePsfwrYvTkeqcacI0DWb4YceyualFfjBrI1YS5pA4N2b7PHM5UTDxFPBQPxcP5vC+rLVE/eDANm+B0a1SfjE0/5MGnzj/G8Hru1xZMauyp4cBJT7mP9W3Du2P+fZGJKequO7e5YP9vH2OZ50R3oo607FTX7KuYjye0EvXAuO6e4Pf3B922sBeETbhAXBHDH8Df37vhX7rY/7R3vTOudwoc63c45GiYdK8yLCl2smX9Mao06n0N2Ma3h2zf6d59B4inIB6Kh+7L6r4P+5vBumbbhnz2lgIB4PCU2/NCxjLvHfE3RWq511Ufa1ec/ST70jH/vkhJme01/zhejHoSxScaeKKQqAfGkUrX/DDmby+9Vmny2MW9IGzCBeKGEcfgpX3XJ9PMk3BXgeP9NYccc3atd7hl/fH9iP64uAHbuCe8oUY9xFPEQ/FQPJzf+7JaEvVZgWPNkM+vKxAApnlqdkNMNlnq/gLblZ4Ozfp1r6tj+ppPReYF2FPzj+Ng1JMo3tvAE4VEPVDUrzrtL2P+7tLEs7/WdQt9QdiEC8T7hqwzveG2NEAi1cU9f4r1FHkjUlkKmubeqPbt4nly+Yi++Loh2/nMiO183GGNeArioXg4d/FwIRP1jw2saNTEnCsKJhImeV0iPT3+NsafofzcGF2TLbVPajhoPu9b/zcT9ss9UWx0ZV0uivoSxU18fU+iHihq75i/uV867Xe6beEvCJtwgbh3xPXUUlnCS6Zczzkxn2/P0W6jRqO90aK+eGhEX7zYkO0cNdr4TYc14imIh+Lh3MXDhUzUD85K/EyBvykyaeuNE2zLrozl3Fng77YUTHDMetLRwaeLWyZcTpFyQ3XW/ro36ksUr2ngiUKiHijigQl+c9t1WysuCJtwgXiswPG4raR1NfkaB7KMqgW9u0V9MapE520N2c7bQ3kG6iGeIh6Kh+Lh/N6Xzfw+LI1gHxyJvrGEAzC1zSV8+bcL/u2uggmOG2d4sKQSO0f71v3BFMtaVfD7ravph/FGwe27qeDyUt3ltb1jYnvv5J/1xsSn4mKr/K82F41iUqz9ecy+VVe0PReEda/vqgLH43szPL+fcsjRMN+OOGZfbkk/nBPD32o+Fc2ZT2VTjC6RusKhjXgK4qF4OFfxcOES9VsHVvJTwR1SJDF71xjbkUZFD05om548ry3494cKbM9PMz7Ynhs40K+YcnlHCnzHOiZ9SH16Ygb9n+p9fRfT1/tnfkmCS9QvilRf/vCY/frfMfnkYszfBWHd63u4wDG5fobndyMAaZqTI47Z51vSD6Peav6gQdta5A3lyxzaiKcgHoqHcxUPFy5RPzhJadEyFkVGsI/z5Cwr8V/09a/Lo1iSY5aTjqakfP/TtOdKWOZbBb7jwzX8KG6YYf8/MrDM68TFVpEEl6hfFB+M2ad/7bTf6LZWXRDWvb73YnZlz1YW+A0cc8jRIEXm67q3JX3x6oh+2NGgbb2pwH67xeGNeArioXg4V/Fw4RL1g6O0i9a+3R7lJWaz6iONM+HE/QUTHffN8EDpr/uf+riMUZDPRDPLIjxesP/vLGFdW1xktJokuET9Ivj9BH26Sbe17oKwzvWlm65TUU4puyLWFPgN7HPI0SDnRrlvFs+zUW/8XtWgbV1XYL9tWYB9UrQk7Ly2VXO0L8RTxEPxUDyc//uymd73bchYyeUF/7bI5K3vFTxABidXORrjTRD6dsGgfvGMDpJtUX6COrm9wHf8rIYfxf6C/V9G/fzNfct7XVxsHUlwifp5l85hv4zZn0/otlZeENa5vlETon9b8vpujma9FQmjrI7ZDFBpumtG9MHRhm3veQX22x0LsF8k6ptDPEU8FA/Fw/m/L5vpfd9jAys4VHIQKDLi+d2Y7slNkafUqX05owMkPVHsrzv8SYnLvjKaV3MuazLirPZ5iUmucUsjsTgkwSXq51mqP/rDmH35p2jOpEPUeME24/U9PeK4fLrk9W0t8Ft4xCFHgxQp+9iGxMSot2r3zGFi4p4F2C8S9c0hniIeiofi4fzfl830vm9fTF5TvsiOPT1iGVnlc8YdJV2ktlJqL8zoAHmqARcvs5z0YUvBbXqqpPXd0XdsrRYXgTlxTnQf3I5zLk+vT6pL394LwjrXN+pYvaKGayfln2iSjSExkXw6og+2Nmx7i5RoWIRayhL1zSGeIh6Kh+Lh/N+Xzew+LGsk9OYxl1FkJHVeCZtLOu14TFfyJnk6igX0W2dwcFwao2e8nkXbPMMfxKsFt6msSV+f7S1vv5gIzJHXxjyP/9K78KW9F4R1rW/Um3IHKvhub8bogR/eLKFJigwUWvTExOoCv9umDapZFbMbXFQnifpmEE8RD8VD8XAx7stmdt+3NePgGTfofV9g596c87dZdc1vm+B7fFZgG07NKCC905CLl8dm+IP4rsD2HC9xfW/1lrlTTATmxL9McB7/g25r/QVhXesb9aZcFfH3xzDxHfPlComJZXNyNWHerFHOCSPqJepnRzxFPBQPxcPFuC+b2X3f7hJO2u8W2LlZ9eYfzvjc7gnWX2Tiiv/tbWedB8as26wmiFlfw/Yc6C3zGjERmAPpPPnzmOfw/y+MdnJBWN/6Xh5xfK6v4VriYYcbDVOkBOhdC94He2P+RuKpUS9RP0viKeKheCgeLsZ92czu+44MLPzRCg7I1B7MCCCD5WHSqOxJXgUpMllKag9VfFCkhMqhOHsEf1V14p8s8H2/mNGP4cGC/V/2pK9rxUNgDvy60/4y5s3nvpCkd0FY7/oODlnPwQq+18MFfhcXOdxomJXRjpHZeVZ02okR3//GOU1M3OHwRjwF8VA8nKt4uBCJ+g0ZC792guW8UGDn7ho4iD/P+MwtE36PIg8KqpikZdBjA+t7vsJ1FXk4cbrX11V7u2D/rwmA9vnPGC9Jnx6gX6jbXBDWuL51I47Rpyv4Xh+NWOf7DjUaatRcXS8t8HcfVZP4pxndi4yryNvYWxzaiKcgHoqHcxUPFyJRP5hYPjbhcu4ssHPf6Pv84xn//uoU3+NIgfV/O4Mg3P8ELdWFqzIxfU004+FEOtmcKrAdnwVA+/w+xn+V+xbdNlcWMVE/6rru2pK/08UFfhebHGo01NERx+4rC/zdnxvx3d9s6HbfIBYzI+Ip4qF4KB4uzn3ZTO779kU5NcQ3F9i5H/c+e3Usf9J2uNPOn3DdVxVMfOyu+IB4fWB9j1S8vhUFv3fVT782FtyOeZopuo7+WYT2lmsTOMs/dNovY/6OntBtc2cRE/XD3lQ8WsF32jnid3HQYUaDjZqra/cCf/cvR3z3+xq63TcXiMeXObQRT0E8FA/nKh7OfaI+1SIaTJhPWnvougI793h0J3z5KuPfNk7xPYrUYKs6YT34FOpwzGZym8MFvvfTFW/DcwX7/8ZoJ4l6aKcLC56j1aWff4uYqD86w5usNPDg2xG/jTsdZjTYnij+VvEiuahAXLu4odu+KZpRPpTFJ54iHoqH4uHi3JdVfh+WVeN83YTLOqdgEuL5jP/28pTf4/0oVqv9/IoOhHTQDj49m9WsyG/FeCWHqvBFgW1oUj2u9AAlPc2cVTJMoh7aJ51f9o35+/km1KWfV4uWqB/1pmLZAx/uGLG+Aw4xGu7BEcfwewv6vbeP+N5fN3jbbx+x7Ucd1oinIB6Kh3MXD+c+Ub97YKFfTLm8kzF+Yi8lJs6bMhlSpD76RxUeCA/VGABfLvDdD1W4/rUF93OTnpy+GLN97UqiHtrn/4352/k5umXhmE+LlqgfdpNVxcCHUa8K3+QQY47PAal9t6Df++2Y30kD73JNywyIp4iH4qF4uFj3ZZXf9w1OwPrslMv7JsZP7E1bDmVTwfXsrOgguCC6k8b2r+vmGR6ERSbxrfJVlW0F+397Q360t0U55ZbGIVEP7ZLmbBm3Lv3dum1hb0rmMVE/7Gbj4xlfx7zu8GIOnDviOD65gN+5yGCpzQ3e/idj9FvgIJ6CeCgeui+b2fI3ZCx02gTzO2MmJl4soZNeKLiuays6CAbfStjXoINwFt9/b8H1r2/ADzZNgHEszrzJMSsS9dAe6Tzzw5i/m926be4tUqJ+xYibjTInhk9lE4fN45BetV3j8GJOfDXiXL9qwb7vLSO+76lo9pwro+oo3+6QRjwF8VA8nLt4ONeJ+sczDp4VFe/gwRpN58zgJJDasYoOgKwJdK+a8UF4bsH+3lrR+r8vsO7DDfixpn46ENW/YZFFoh7aIcW0/xrzN/PnTvuVrpt7i5Sov3HEMVvmW4NPz3BdULVXol0lJ54f8X0/bPj2jypTsM4hjXgK4qF4OHfxcK4T9Z8PLPCdEjb4qTGSE9eVsL51Bde1t4KdnzWB7J6aDsQTBfrguQrWe03B/n+tAT/W/rc9Uimgi8RPoGS7Q136tlqkRP2w11/LGNSx5OpePJ7FSEOYhS1Rz6CZunw24vs+UuA8dlmN2z+sZOshhzMlEE8RD8VD8XDx7ssqW/6lGQt8tIQNLlIvvcyk8T0F13dHBTv/0Yxge0lNB+IHUc9I50dr7P9x7BrYnnfFTqBkm2P8N1A267aFsUiJ+o+GLHt/Sduf3j45OGQ97zmkmEPnxPAyF88s2Hc9PSLGDXsQnRISP9aYAFgxYvtfdjhTAvEU8VA8FA8X776ssuU/lrHATSVscJGJXQ9GOSVvkjcKJkPKrseWEvI/DazjlRoPxCIlh76vYL0fFuz/Op8OvpSxPbeJnUCJruy0v8Z4SfondNtCWZRE/aoRF+tlDbTYNWQd6Y3P8xxSNMS4dXTfjXaUBxx1z3dkyN+m3/dS6dJtNW3/ZaFMCNWfO8RT2kw8FA8X9b6ssuV/nbHAtSVs8BUFkhMbSur8IjMrp3aggh2fNYL9yhoPxCejWGLoghLXuTJGPzlM7XhNfZJOem9mbM93Ud5rhgDpXPPnGC9Jvy+aPaEQzbsgnNX6Rr0ZsqWEbR/2NuTBkq9VoKh0bbi+9xtI19VpMNDSxIzXjrGcu2K2g2aaeu+xa8jfvtf7zJs1bv+WEfcu7hWYlnhK24mH4uGi3pdVsvysSU1OldQhq0YcpE+X2PlFy+y8WvJO3x7ZT6vrVLQE0JYS11m0zEMdT0vTMf71DI5BgP+I8ZL0aVTFhbpt4SxKov7FEcfvtCX+bor8QRYpqbDWocSMrhPTq9yvR3cOo5QwyBt88tOYN6nnxvCBRIsyR9KbMVlpt6XRv0ej/Deex/H0hEkVEE9BPBQP231fVsny349qRz3/lLPBaeLVMkcQjpqwYandV+I6L+v1VdNqbNXx0GJPwXXunmE/bIizJ43NapeKmUBJHorx69LfotsW0qIk6r8cstyTU25zmoD+x5xlf1zzTQrtkhJox4bcs/S3dyZY/qux+BPofTOi387N+Jvn+/59Y83bP6wkw3V+IpRAPAXxUDxczPuy0pd/fUXBot/nGctPo1Q2lLiObWMkRe4qaZ3pB/ZFVD9SfRI7C/ZFelpXxqsr5/eOmSLrrHoCm/TwJ01Wuz+KlZsAKMPvOu3nGC9Jv123neXvopr5chbxgnAW61s74vg9PMX2puvPYznLTQ/+V/k5UJN07N075Lh/aIJlbohmDGCp0qj7gH7p3qO/jnbdb7euGLL9X/hJUALxFMRD8XBx78tKXX6qoztsRvCyRvm9lbHsp0rs9CuGBKcqZyke9qRpc80H4v4x+uOeEtb3VIyXnLqz5O97We+m6o0o/sAgtTvESqAEF8aZ2sVF227dtszvM/rp1y4Ia1vf1qhmzp87cmL1yV4shybIe1N30oFGn8T4k8rNk1HzVC2NlLwhzh7E9UEDtv36iu+TQDwF8VA8XNz7stKWn0aDvx+jn+xeUsJG747lT2LKmoAgJcSPjpkcOdk7ACeVHnCMKqfyRo0H4X1j9kfqv4sqOiiHtfQa3oO9v18z5JhY1evztM/Sw6P0tkIazbSndzI7MeH6j4WJoYBy/GnM80+abPZXum2ZPw70088uCGtd3+sjjuN0IzLOxHTp7bu8V55TUnS9nwANTyScmGJ5tw35LV29AP11fIJr8S9654W6PTnkXti9AmUQT0E8FA8X975s6uWnsiBpNPPBggfM8d7OmuZk/+hAELpyyk5YF90nxB/HZAnape1I9SivHeOAS59LZXO+KbiONInENTM68NK2bYzRE1cMS9bfE+PNGZC+264p9kHd7XkxEijBuG8U/bwgF6FV+OtAX33igrDW9R2JYvW6R107pAfuD+YsL/03JaBooqxRqtMOxDmQ8zt6egH66+0xY2G6F72gIduet18e9DOgJOIpiIfi4eLel028/B3Rrcd9KiZPbJ7oBZBXxtzo/le9dk74xR/qrfv7KD9hmy7E0ysnqUTPa9GdMb1fCpgpAf7TFP2W6rKnJ+lllVpZ2dvWtM1fTLlf+1taTnoKvzeWv3WQHgY811vniZjfBP1Su0J8BKaU6qf/Mua5527dlul3GX31by4Ia1vf+hhvFFC61ju/73ohTdSe3oBLI/6yRhalAQKPRfeNOWiavON/2iTY5ii/PnVT3DnGOWN/g5ISV+Vs4zdhND3Vnk/EU9pMPBQPF+m+bOLlvxvlJTiPT7jR05S8eStml8AdnGx2VYnLfqmkA23VDPrhzhrWOav2SQBM57ed9sOY555/1225surT/4sLwtrW98CIY/mZTvsoxn+bMZVd3CYBRsPllZEsY5DHpznL3rQA/fbeiHNAGvS0s2G//xdytnWLnwElEU9BPBQPF/u+bNb3fQDAgPRW074xb6r2xXjlxdrmvzL6bOMcf580p8rJnHbLHKxvVCm91b3PXd5pj0R3QMXR3o3Hyd7//bb335/rXeSf4zBnTmQd/9+XtOyrh8SIRZCSkh/3nQuO9xIWD0d3TqomSaOWs94S/tBPgIrPJ+IpiIfi4eLcl836vg8AGPBvMV6SPtUNvVC35fpNZJcQ+rWuqcWKGF7u70tdRAuP/70lriNvjqdrdf9MPR7ZJUsv1TWIp7VKv8GU4LxOVyw88VA8BACYyj/H+OW2PEkf7qGMPvuzbqnNDSOO51d0ES08/u8pcR1pJN3RjHV8pPtn5oLIHj14v65BPK1VerixVBJFon7xiYfiIQDAxH4b409q/oRuG+nPGf32gW6pzc4Rx7TazSyyx3OO+4tLXs9tOeu5zS6YiaxRnO/qFsTT2r0SZ0bz0g7ioXgIADC28yI7oawu/XRuyem7f9M1tRk1/8JqXcQC259xzH89w5vjb3rxhupcn9HvqQb4Gl2DeFqrR6KacmM0n3goHgIAjGXcuvQpqa/G+mh/zOm/f9I1tUgPlk4POa4P6CIW2Lk5x/+LFa7vQMb6XrIrKpOSPt8M9HeqIX6VrkE8rdVgGcT7dEnr4q94KB4CABRyd4yXpP+5067WbSOtj+xJZFO7TPfU4rYRx7YbJhbZlpzjfnOF60wTtWWVVNtod1Ti9Yy+3qRbEE9r9WRG/1yiW1pHPBQPAWAqt8b4k4oOvlZWtVVTbuNge6uF+/l30U28j9NPd/t5FPLHIX2oZFA9Xgj1dGmvrFfvT/ViaZVu7K2nf71pcr21dkmp7s/Yv/fqFsTT2pzfaW9m9M0hXdNa4qF4CAATS6+FvRbd5PW3MVniu+qn1inZmWo8vhfZs7mP09JF846W7eNzYvkrgaPabj+NQv4+8kfT/1n31ObAkGP7dO+mGhbV15E918gsbM1Y9yfhoWVZborlZUh26BbE09rcOOQa+xWHT6uJh+IhAJTi8k57PobXoxxs7894G9NrpA9Hd2RCke37KrpP3Ne1dJ/+R4xfl/5XfgqF/Fd42NE0q0cc35/ror/VUN3Yu4nc2Wl7Ou3dTjvWO/9nSaPAUu3dN3vn3pPRHS12vNM+jO4r/2W+4r+i067ttO3Rfa05PWS9fsTfpO072Nu2jzrtyhK356LojtJ6vXcMHe99/1QH9UCv36osdXVDpz0X3YR7/7pT3982EB+zjvtHZnh8bc9YvwkVp3dF7zfa368P6xbE01qk0pBvjOifMsqN1REL08OXLb3r2IMTbnda566MVlXd8LpjtHgoHgJA5a6J4onwumpxp8TRkRHb9VzvIretfh/jJelTf/7W4V/I/xvRlw/oolrcPmK/vNCy/ri8d3P8Vu9m9eSYiYWLen9f5OFt+syzMdlosYt7iYE04en+WP7K+Mkh5/JLejfmg9vzfW/7p5G2aV/B82faxq0l7rv0fdND5q8LrPvB3t/cm/Pv1874uLsvYxuednqa2CUZ1zte70c8nf3v8NUC9x6j2uqGxcKldaZk9icD8f6dCfvqhZjNGxh1xmjxUDwEgJlLoyF+Knjx81xN2/jwkG3a0/L993eRX5Ylr93isC/k7wv07T/qplrsjupHuM2TDdFNtKfkQhrFNewBbEoI9CfZ7+i0HydIQrwXxR6Qpn3xZmRPujbY8pIF1434Ts9P2G9p2w4OLOvTXp+c1/tMekD9UUYiooxJuNP8MYMJ+i96N6NLCZeU7Hm8b99d3NvHg31wrKZjb1t4Lb0Mab9+19eH6brsNt2CeDpzb8f082Qda0AsfLR3j7SvwH3eJKOUV+R8l09L3Bd1x2jxUDwEgNrsGOPCc1UN25c3GW565XFNi/fbhZ32lzFvHp5wuBfym4J9+1tdVYtR8zGc1/L+Sefp93P65t2+zz3Xd1ObXiW/pe8cn86t949IKjxZYFu295IFL0f3YcLHQ5aXVbol1ScdNW/Jl2P2T0qCv5cRT+7K+fwVGet8fYr9k47P3Rnrv3PI3yyN1nuo99kmvWZ/Uyx/Pf0hp6mxkhKH4+y33jboFsTTxrg2p2/uHGMZs46Fz/bWk2LNqNHo10zQJ7flLOvZEvq77hgtHoqHAFC7FQNBcVi7r4bt25izLW1+pTCNiN0f4yXpTW5UzG+i2MS83+uqWlw+Yr8c0EV/sy2nf+7v/ftLfeeF9UOWk26A80rppBHeF0ywbS/nLO+6gc9dF9lJ6WlGk9+WcRP9Xe97DpP1oHjS43dwhODh3n8f5esh56Y7GvC7HPxej/gZjnRFnP16/0cT/qZAPK3OIzn9c/GUy51lLMwrmfbThNv+TlTz1m7dMVo8FA8BoDG+imLJ3jomlbolZ1subfH++tcYf/LYXzvMR7qy11dFH3zQnBtm5bDO9lDkzzXyZO//T6PtipSveSlG100fx+0FkgVpO5dG87/Wu3nPezj5bsH1Ppnxt98VSLasiOyHFOO6ISMBkcoYFK2xv2fIfrioAcfceRnb+JyfYq4bB46HJ3UJ4mkjZb2hdqiE5c4yFp6T8zdvTrDdKXl6OkaX1htX3TFaPBQPAaAxLorxkr6znrAua2To/hbvr1SzcZy69Omzv3OYj/QvnfbDGP26W5fV4mA0762fJsqqY/51nHld/cUxlrVpSH9PcpO/bcRyVseZ2u399V3Tw9msUYVFape+mvF3qYxAkVeqr4rpR+ttjOV1gk/GeK9074pySv9UbevADXc6Flf5SZ4llcxYmkDy216SAsTT5lkZyyd7XXrQXcX9TVWxMG/Q0yQP2/Me8HwwRV/UHaPFQ/EQABrl3hgvUT/rETZZr4be39J91T+ypmhTG3G4q3s3F+NOFvaArpu57QX2y4O66W++zeibt3o3jG+PuazVQ/r7yATb9syI89TSZH5ZtW439SUoThT8HeaNRN9WcHsfi+keUKSR9FmT+Y2bBMub9PGFBh5/a+PMw6LjvdhFVxr9ufQWY7q+UQMc8bS58spvbilh2bOMhXnzkV01wXbnvYX96IT9UHeMFg/FQwBonDdjvATlpHWJJ3Ugmvma/6ylUT3/Pea++neHd6b0CvDd0U3Q/xLjJ+lTu1o3zlS6KT1ZYL985UL/b6+J503AnRL4509wI5XX3ycn2L6PMpazNGruwd7/3jfiXHh+FCvb82zOdhedaG5lZD/0uKvg36eaq8cy/v7tCfrtjZzvsqnBx+JNDd++uqTk3/W6AfG08Z7O6JfTE8TRumPhWzHd/C5LbhhyvFw3wfLqjtHioXgIAI2TLu4GR/r9VODi/dEZbd+6jHV/2tJ9tSvGSyT/jxus/5P6IZX/SSOV/thpP8dkyfn+pm+rdWXvhiaN+vtwzH2Tapo+H91Xjm/t3QRc0aK+u2NI39w24TKHPbgdx8pYXtt26RX1NAHbyV7yoIyHsXflbHOqC7+m4DIejezaxEUSI6t7n81Kjqyd4Pu8H+XXBAbEU/E038dRzXxds4yFK3Lu7fZOsKzXorxJaeuO0QAAjXTTwMVNGpXwQoEL929ntH1ZCaedLdxPd8f4ieQ0Keq+Frc0j8FfOu2vMX1SfrAdduqo3N6S99kefTfVBMj/W9LN+eYhyYKl0YV3ltAHV0T+Q+eipdOuiuxRpxsL/v3bUW7ZrKyaxB84VQDiaSXOjexJU58tYdmzioXJdTn7cfuYy1mX0x+TlJppQowGAGik52L5BJnrC16oz+L1vaybiw0t20epxEoZI8C18prkWPXSjeXWEtu1Leq7oznH7dYJl7dqyG/h6JjLeiknWbA0qd6HJXz/NJLuy5zt/TqKjbRL5d2yXqd/rOA25M398tWE32lNzvJ2OFUA4mkltuScd28tYdmziIVLHsv5HuvHXM6TQ64Fxkn6NyFGAwA01heRPTlSkVdjZ5Gs/DGmn7hwnv0quiPjJceb1f7NqYOGuirnmD0Wk78KfumQ38I7Yy7r68iezC69pZLKuJQxydrjQ7b33gJ/n0YNHsz42ycLrn9dRuyadgLCvITRBoc8QCWykulllRubRSyMIfd034+5jHMje76VSZL+dcdoAIDGGqz/nl5nXN37t01RLGFZ5cz112Ssb3fL9tF/hqR4E9sDTh801IM5x+yuKZY5LB68PMZyLstJFjzU+/+fKimu5b1On9Y16mFFGnl6JJZPmDvOxHR7ctZ/YIrv9UIJiRYAissa9V3GSPdZxMIlWbXwJ6lP/1iU82ZdE2I0AEBj3RPDJ2n9NkYnLJ+rcPuyLgo3t2j//D4kxJva1jt90FB5ddFvmmKZ24f8Fm6fcjlv9GJNuvEuY4Lm54ds6zND/u6cTns6I6Hx2Zi/9ytjupGCebJGD77mcAeoxNqc83gZ82TNIhYuuTXne9wzxjJS6bUfo5w5C+qO0QAAjTZY//3pgX/fEaMTlmlyu1UVbd/gq5qnKlxX0/x9qEvf1Jb2y0qnDxoojUTLmlht2pHXrw/5PawZYzlZDxE+7f3fB0v4/hfkfP+ldnnG35zfaY/E8hF6KWEySWL9zZx1/zhF/MqbN2abQx6gEltzzrvXlbDsqmNhv7zE+DhvRL/Ydx82TSxqQowGAGislNA5MXDRszHj4uhUjE5c3lfB9mW9qtmWCTzTSJrDISHe1PZnpw8a6oacY/bVKZeb93bVJ2PGnKx4cqq3/BUlfP9HhvxuPx6IL+ntrNcztunz6L5CP8n2XBLllAgalDeB3xqHPEAlXss45/5U0v1X1bGw3xcZ6zo8xt9f3fubb3KWldq6OYnRAACNNpjQOZlz0fNyjE5cflHB9m3OWM9DLdk3e0MyvMntP5w+aKi8CdqmKRm2fshvYfsYy9kY1c/58OWQdTzfiyHvZtz4H+r9+9VTrv+pIevfOEVSJ+tByecOd4DKfJdx3n2zhOXOIhYuWR3TlapJ8edAnBk1n7Wsr+YoRgMANNrTAxdB7+R87qoolry8ruTtezHaWRdcXfrmt6ecPmiojyJ7lN40pZryJpBLb2SNU0f3ucifPK6Mkmbrx/gNp9GEb/SSImXGlW9y1vdTTD76b0vOMp91uANU4vKY/uF0XbGwX175nqKlanb2Pr878hP1Rd8Wa0KMBgBotM8GLoqG1UTcX+Ciak/J2zc4cd6hFuwTdenno/2z0wcNlFUubNhD2KLyRsCNmyg+kLOcp0v6/sMmvE3rvjO6k+qdW1H/Xz1k/XtLjNXTjtAHYLj7cs67V5Sw7KpjYb/dOeu6qMDfpgR5etCfasOvify3fYu+sVd3jAYAaLS1Y158bovRyct0MXdBSdt3UcbyX1zwfXJhqEs/L83oHppoc5Q/AjCv5v2JMc/364b8ni4t6fsPm/D2jhn0/4ND1j9p2bZbh8Rb9XkBqvFGxnn3aAnLnUUs7JdVNq3owKelh8Sbe/HmeMay0uCAoon1umM0AECjDSbej4z4fLpAK5JE3lnS9t2bsexbFnh/pJGwRd5a0Opv3zt90FAv5Byzl0yxzPdylvnYmMu5J2c5+0r8/p8M+d1ePoP+Hza3yK0TLC/F3by3Gd5xuANUJisp/VoJy51FLFxyaUz+BvSjcfbbYNfF6Algmx6jAQAabe8EF22PR7GaglVs36KPHvzXkACfl/aJ0wcNlfU6/TdTLG9D5E8cN27N+7wk9n0VJ1aW2izix+dD1j/J22YPD1ne/Q53gEpcE9PVda87Fi7JeyiwdcTfXRlnl7xJ8uaqGadcT90xGgCg0Y6PedEWvUTDqRidyNw05bZlvV751gLvi/RK6S8hAT4vbbfTBw20NsqfOyRrYtr0mvuGEs7pSw9gzyuxD4bFp1k4UWIS4tIRSQ3ltwCqkfeQdF0F9zdVxMIleQ8Fhj04PifOzBHW/ybz+zH9XCl1x2gAgMa6NuMCaU3Bv90ToxOZH1awffct6L64LLqlVCTA56f93imEBtoak42cy5M3L8kktdbz6ty/W3If1J0EKGv9KZnzSa9/spY1rFTdOj8FgKlklXw7mPPZVNbs9YbFwiVHI/uNuCL3eS8NxKSs+PZTZD+ETtcP+xsYowEAGmuwhM3nY/ztNVEsmXl5iduX2kULuB9S6Yj/DonveWubnUJooN05x+sk58402i7rAeKko/OfzNm2u0rug2Ej0MuY6HzTiNg2LAkxzoj6Xb0Ey/acZeXVSb6ulzgx2h5gMnlJ6ZczPpvmfzkWxUuRzSoWRi8OZK3rlSF/sxRz0two5/T99+tzlvVmxjKu6MWhJxsYowEAGuvTgYujZ8f8+89idDLz+Sm2b7DcwhcLuh92haT3PDZJMJrou4xj9eiEy/ogY1lphOHKCZf3aWSX0Dm/5D54Z8jv9vYpl72UYBlWj3fY21FXjbmeNCLxxZxl3ZGTlEnrf81PAWBieaPeBwdpnNe7PxlnEthZxcIkrz79lpzP39z795RMH0x23x/F5kpZ3WmHIn8em7pjNABAI52fcXF0c0kXf/0tXeitmmD7zu1dtE46UdG8uDskvOexHYnJk5VQlcuj+Gi3UbLeaEq1ac8pMeYsJf7L9miUX5ItlYVbKkHzzojPvjVk/TsLrOvZgf2WV/rmsoG/S+Vu0kTuX0c1dY4B2iIrjpzOOLem83Oal+SSBsbC5LWc9a3O+OwNcWaOlaxE/us5y7q67zMre3F22Dw2dcdoAIBGGqxjnF7vHHeSu3QxdjRGJzUnqSu/JWM5Ny7YPkgXtj+HpPc8tg+cQmig+3KO13EfcmbVpd8zQYwYFnOW2vYK+uHiWP6gt79tG3N56SH2d33JlFEPnx8esu5UHiGvfvy6vkTDN32JlGMxupZv+ts0gvHH6JYcAGByb2ecc78f+MzSG7F3NjQWJp9HsTJs6b7rpxj+QPmzAst6o/ffnmxwjAYAaKS9Uc4ERk/G6KTmJCVrBsvBnFiw/k+jUv8U3WSMNn/tKacQGujNEm56b4/lIwgfKmHbyqydX8RzQ2LSqYJ9kratf+L0og8rUo3dk0PW/20vKbKi19Kow2fizEjGwWR7Xs37W3v/fksvSXE6xn8zDoDlsuqo/9Q7v6e2lJB+teGxMC8WLQ2iWj8Q514esqyfIn8+svRGwfu9/72/4TEaAKCRBkfCPzzhckaNilhq14+53EMDf7/XLgMY6kTO+bfoaL/B19HTRHJXlbRtRzK26/MK+yI9DB01j8q+XjJgbd/fpQTM5t4N/1KCPCU6Hhxz/Ttjsrd1UnLohoFlFYmxp8IE1wBlOLfg+frjGH/09qxj4akx4s+ohw5FYtF3AzG1qTEaAKBRrsm4GLpyiuW9UeDCbZyJ7S6LYpPmAdB17ZDz7ycj/jaNqPswzp58No2iL2tk2tU521X1mykX9L77NGWuPozJJ45+L8af++KajOV8O+LvUjmGm/wEAEpRJFGfJoRdPQex8POC8efJAsv6YsQy0rXDOKXX6o7RAACN8VgMr7k4rhui2Gi/Cwoub7DOchrBscZuA8j1aIyeVyEl85eS7+ltqDRSrX+i0q+im6A/t+Rt25GzTdfOoF9W9GLe8TFu/FPMeS+Wj2wfV5rH5bmC63xtSIx8fMjfvdvblwCU5+Mh591UZm6SCbvriIV3jog96Q3mjSUsK01ifvmcxWgAgMb4KCYf7Z7nQIELq50FlzVYZ3m/XQYw1AeRX5/+kd55Nb2SnmrMnuz930O9/56S81cueP+c0+uLFO++7OuH1I71+i/VDk4T/a0ued3pLbFUg/7TvvWmpER6rf+pgsmNNCHw972/TfstzeNyjcMeoBIX9M6zx3vn3fTGUyrDOY/J4RT7PumLP0d7sT+9rbxigmUd6LuO2N+7hph2Atc6YzQAQK3SCJDBGoPbSlju9hidqD9cYDkrYvlkRTvtNoBcaeR2Vh3aY7oGAAAAoJnSSITBZM66EpabRlIUeW1x1GR3WWV0jBoEyHdLzvnWJNwAAAAADZVeG+xP5BwocdlFavF+OGIZT8byiYkAyPdMzvn2Xl0DAAAA0EypxmJ/IueFEpd9SRSbBGhYPd5PBj672y4DGOqznHPtJboGAAAAoHmujuWJnE0lr+O9GJ2ofz7nb7Pq52+22wBynZ9znj2kawAAAACaaUecnchJkw+uLHkdN8XoRP2JTjsn428H6+efzvkcAF1bcs6z3kYCAAAAaKh9cXYi54OK1nMwRifr78v4u1djvHr2AG33as45douuAQAAAGiec2N5WZlHKlrXQzE6Uf9Fxt99N/CZh+02gKG+zjnHrtE1AAAAAM2TVR5hQ0XrSrXmT8ToZP31fX+zPuPf19ttALkuyjm3fqlrAAAAAJppV5ydyDlW8fpejNGJ+tf7Pv9AmAiRxXN5dB9cQRXuCfXpAQAAAObKYFmZvRWvL2uE/GBLk9mu7X3+7YF/e9EuY46lsiMvRbfc1J26g4p8kHNu3aZrAAAAAJonK2l+xwzW+2GMTtbv7LQV0U3a9//3W+025tDK6M798GPfsSxRTxWuG3JeNZEsAAAAQAOlSVkHEzkXzWC9m2J0ov5wp22M5SPtV9htE7mg097otJ+iWz5oqy6ZmZQc/SbjGJeop2wpSf/dkPPqvk5brZsAAAAAmmVwZPssJxr8NkYn678Y+N/v2GUTSQ83Pg9lMGYtTcr88ZDjW6KeMlzdaW922sEC59SlB54fRffB3Wu6DwAAAKBeq6JbJ7uu+u87olhSqb9tt9smkjexZJo4+BzdU7r0VsruAsezRD1luCK68x5M0l7QfQAAAAD1uj2WJw5vm+H606Sap2K8RP3FdttE9g7p09t1T2nSQ4/Ho1teqMjxLFEPAAAAAC2XSh4MlkNYOeNteDmKJ+m/sMsm9u6Qfn1A95QivbWQaoOnhyI3Rbfc0GWd9nVI1AMAAAAAGVIS8cdYPsngrF0VxRP1z9htE3s9jKiv0iud9lZ0S5AM2hoS9QAAAABAhptjedJwZ03bsj+KJepvtNtK3d+pHQ416suwZsi/rQ6JegAAAAAgQ9ZElzfXtC3bYnSS/kR03wJgco/G2ZMHH4rsEeCUT6IeAAAAADjLuZE92eWqmrYnJeAPx/BE/V67rRRrozth8I3hwccsSdQDAAAAAGe5P5YnDI/XvE2Px/BE/R12G3NMoh4AAAAA+D9pFPXXsTxh+EnN23VBnF2Wpb+l/77GrmOOSdQDAAAAAP/ngchOGO5vwLa9lrNtn9htzDmJegAAAADgby6JbombrIThqaivRv2Sa3K27XG7jjknUQ8AAAAA/C1J/20MrwP/UgO28/OM7brW7mPOSdQDAAAAQItd1Gk7O+1EDE/S95fA2dJpK2va3nsGtueoXcgCkKgHAAAAgBZK9d6zJo0t2tIErt902lud9vAMtzs9IDjatx277UoWgEQ9AAAAALTQyZg8ST/Y3p3xtj/Vt+7NdmUp0vwDGzvt3ug+/HhUl8yURD0AAAAAMFcu7rSfeu0c3VHYiujORXBrdBPAL0b3jYgjsTxBLFE/WxL1AAAAAAAL7v0Y7y2JDbpspiTqAQAAAAAWXEq839JpmzrtjujOUZCXHP5ed82cRD0AAAAAQAvti+zk8N4K1nVnlDcnwizarOddkKgHAAAAAGihlIzOSg5vq2BdEvXDSdQDAAAAALRQmow3Kzm8poJ1SdQPJ1EPAAAAANAyV0V2YvjzitYnUT+cRD0AAAAAQMvsiOzE8NMVrU+ifjiJegAAAACAlsmbSPYmXVMLiXoAAAAAgBY5v9NOx/KkcKpZv0L31EKiHgAAAACgRbZGdlL4LV1TG4l6AAAAAIAW2RvZSeHtuqY2EvUAAAAAAC2RStscj+yk8CW6pzYS9QAAAAAALXFjZCeEv9Y1tZKoBwAAAABoieciOyH8oq6plUQ9AAAAAEBLfBnZCeHbdE2tJOoBAAAAAFrg4shOBp/qtJW6p1YS9QAAAAAALbA9spPBH+ia2knUAwAAAAC0wDuRnQzeMYN13xn5yegmtndnvG8k6gEAAAAAFlwqbZNK3GQlg6+cwfol6oeTqAcAAAAAWHCbIzsRfHRG65eoH06iHgAAAABgwe2K7ETwnhmtX6J+OIl6AAAAAIAF93VkJ4K3zmj9EvXDSdQDAAAAACywiyM7CXy601ZnfH5Fpz2i22ZKoh4AAAAAYIFti+wk8Cc5n3+l04512lpdNzMS9QAAAAAAC2x3ZCeBs0bNbw8J4llbERL1AAAAAAALbX9kJ4E3DHxuU++/v63LZmpt5Cfq79I9AAAAAADz70RkJ4FX9H3mtk471WlHOm2NLpuprZGfqH9O9wAAAAAAzL+8JPBVnXZ+pz0VZyaXvUF3zdxHQ/bRQd0DAAAAADD/jkd+Iri/3aurZu7ZAvvl5Tj77QcAAAAAAOZMqjk/Khn8sG6q3HWddnOnbe60Zzrtmyj2AOV/e59NZXC29JaR3nw4T5cCAAAAAMyHGyM/Afxjp92uiyq3Joon5Yu2l3QrAAAAAMD8uLXTPu60n3rts057PEwcCwAAAFTo/wcyoLm6YAEDwwAAAhB0RVh0TWF0aE1MADxtYXRoIHhtbG5zPSJodHRwOi8vd3d3LnczLm9yZy8xOTk4L01hdGgvTWF0aE1MIj48bXN0eWxlIG1hdGhzaXplPSIxNnB4Ij48bWk+TTwvbWk+PG1pPkE8L21pPjxtaT5FPC9taT48bW8+PTwvbW8+PG1mcmFjPjxtbj4xPC9tbj48bWk+TjwvbWk+PC9tZnJhYz48bXVuZGVyb3Zlcj48bW8+JiN4MjIxMTs8L21vPjxtcm93PjxtaT5pPC9taT48bW8+PTwvbW8+PG1uPjE8L21uPjwvbXJvdz48bWk+TjwvbWk+PC9tdW5kZXJvdmVyPjxtbz58PC9tbz48bW8+fDwvbW8+PG1zdWI+PG1pPnA8L21pPjxtcm93PjxtaT5wPC9taT48bWk+cjwvbWk+PG1pPmU8L21pPjxtaT5kPC9taT48L21yb3c+PC9tc3ViPjxtbz4oPC9tbz48bWk+aTwvbWk+PG1vPik8L21vPjxtbz4tPC9tbz48bXN1Yj48bWk+cDwvbWk+PG1yb3c+PG1pPnQ8L21pPjxtaT5yPC9taT48bWk+dTwvbWk+PG1pPmU8L21pPjwvbXJvdz48L21zdWI+PG1vPig8L21vPjxtaT5pPC9taT48bW8+KTwvbW8+PG1vPnw8L21vPjxtbz58PC9tbz48L21zdHlsZT48L21hdGg+iFHVcQAAAABJRU5ErkJggg==\&quot;,\&quot;slideId\&quot;:262,\&quot;accessibleText\&quot;:\&quot;M A E equals 1 over N sum from i equals 1 to N of vertical line vertical line p subscript p r e d end subscript left parenthesis i right parenthesis minus p subscript t r u e end subscript left parenthesis i right parenthesis vertical line vertical line\&quot;,\&quot;imageHeight\&quot;:45.76},{\&quot;mathml\&quot;:\&quot;&lt;math style=\\\&quot;font-family:stix;font-size:16px;\\\&quot; xmlns=\\\&quot;http://www.w3.org/1998/Math/MathML\\\&quot;&gt;&lt;mi&gt;M&lt;/mi&gt;&lt;mi&gt;S&lt;/mi&gt;&lt;mi&gt;E&lt;/mi&gt;&lt;mo&gt;=&lt;/mo&gt;&lt;mfrac&gt;&lt;mn&gt;1&lt;/mn&gt;&lt;mi&gt;N&lt;/mi&gt;&lt;/mfrac&gt;&lt;munderover&gt;&lt;mo&gt;&amp;#x2211;&lt;/mo&gt;&lt;mrow&gt;&lt;mi&gt;i&lt;/mi&gt;&lt;mo&gt;=&lt;/mo&gt;&lt;mn&gt;1&lt;/mn&gt;&lt;/mrow&gt;&lt;mi&gt;N&lt;/mi&gt;&lt;/munderover&gt;&lt;mo&gt;|&lt;/mo&gt;&lt;mo&gt;|&lt;/mo&gt;&lt;msub&gt;&lt;mi&gt;p&lt;/mi&gt;&lt;mrow&gt;&lt;mi&gt;p&lt;/mi&gt;&lt;mi&gt;r&lt;/mi&gt;&lt;mi&gt;e&lt;/mi&gt;&lt;mi&gt;d&lt;/mi&gt;&lt;/mrow&gt;&lt;/msub&gt;&lt;mo&gt;(&lt;/mo&gt;&lt;mi&gt;i&lt;/mi&gt;&lt;mo&gt;)&lt;/mo&gt;&lt;mo&gt;-&lt;/mo&gt;&lt;msub&gt;&lt;mi&gt;p&lt;/mi&gt;&lt;mrow&gt;&lt;mi&gt;t&lt;/mi&gt;&lt;mi&gt;r&lt;/mi&gt;&lt;mi&gt;u&lt;/mi&gt;&lt;mi&gt;e&lt;/mi&gt;&lt;/mrow&gt;&lt;/msub&gt;&lt;mo&gt;(&lt;/mo&gt;&lt;mi&gt;i&lt;/mi&gt;&lt;mo&gt;)&lt;/mo&gt;&lt;mo&gt;|&lt;/mo&gt;&lt;msup&gt;&lt;mo&gt;|&lt;/mo&gt;&lt;mn&gt;2&lt;/mn&gt;&lt;/msup&gt;&lt;/math&gt;\&quot;,\&quot;base64Image\&quot;:\&quot;iVBORw0KGgoAAAANSUhEUgAABe4AAAEaCAYAAABnzcfbAAAACXBIWXMAAA7EAAAOxAGVKw4bAAAABGJhU0UAAACzkkxwqAAATQJJREFUeNrt3QHIHNW5MOCXEEKQECqpWEnFIiJBRAR/sWKDFYIECRJCJTek4pUUEQkiEsgtXrEiUvGKv3jFIiIhBAlY8Yp/UEEkSBCRK17xilcsIhIkBMFKlDSkgf573P1uNvvN7MzszuzO7j4PHGrz7c6ZOTM7Z+adM++JAACadkOnfNwppzrlHyXKoRrrPtIpJ0rW219etNsAAAAAAFgE13TKwRgeND/TKZfUXO+aTrmjU74YUu/7nbKj91kAAAAAAFgo98Tw4P3DDdW7ProPBgbr22+XAAAAAACw6PZFfuD+eKesaKje9wbqOtopq+0OAAAAAAAW3cUxfNT9zobqPTRQz167AgAAAAAAIq6K4YH7Iw3V2z/iPqXNucCuAAAAAACAiPtjeOA+lStqrjOl3znVt/w37QYAAAAAAOhKQfOiwP2zNde5cWD5d9sNAAAAAAAQsbJTTsfZdDWfRHbg/mSnrKmx3ocGlr/ergAAAAAAgIhb42zw/N1OuSfyR93vrrHeI33L/dhuAAAAAACArqfjbAD9kU45r1N+iOzAfV0B9lTHmb7lPm43AAAAAABA12dxNoB+U+/fnor8Ufc31lDntoFlbrIbAAAAAACgm1d+KXh+qlNW9P59Q+QH7g/WUO+zcW7u/BV2BQAAAAAAROyKswH01wb+djiyA/cpxc2FY9b7edT7IAAAAAAAAObCy3E2gH7fwN8G09n0lwfHqHP9wLLusBsAAAAAAKCbnqZ/EtorM/5+NLID90dj9PQ2dw4s6yK7AgAAAAAAIjbG2eD5NzmfeSDyR91vG7Heg33L+MhuAAAAAACAroejOM/8BZ1yOrID94dHrPe7vmU8YjcAAAAAAEDX+3E2gL5zyOf2R/6o+8sr1nntwPdvsBsAAAAAACBibZwbQF8/5LPXR37g/smK9e7p++4PdgMAAAAAAHRtj7MB9M9KfP7DyA7cn+iUVRXqfTOK0/MAAAAAAMDC2RdnA+jPlvj8XZE/6v6uknWujHPz5e+0GwAAAAAAoOtYnA2gby3x+TSq/tvIDtx/WLLOzQPfW2c3AAAAAABAxFVxNnh+plPOK/m9JyJ/1P21Jb7/ZN/n37MbAAAAAACg6/44G0B/t8L3Lov8wP3+Et//qO/zD9sNAAAAAADQ1T9B7CNjfLe/pNz1Fwz53rqBz19nNwAAAAAAwPIJYm+q+P3BPPX9Ze+Q723v+9w3dgMAAAAAAHTdGmcD6Kc6ZcUIy/gisgP3Xw75zv6+zx2wGwAAAAAAoOvpOBtAf23EZeyJ/FH3m3O+c6zvM9vtBgAAAAAA6PoszgbQ7xtxGSlffX+6nf7yesbnN/T9/UynnG83AAAAAABAxPo4N8h+1RjLej7yR91fMvDZ3X1/O2I3AAAAAABA166ob4LYayI/cP/owGdf6fvbA3YDAAAAAAB0vRxnA+gHa1jee5EduE8PBVb2PpMmvz3V97dr7AYAAAAAAOgG0E/G2QD6zhqWeWfkj7q/o/eZG/v+7bjdAAAAAAAAXf0B9FTW17DMNKr+m8gO3L/X+8zDff+2z24AAAAAAICu/gD65zUu99HIH3V/dXQno136/9vsBgAAAAAA6Ho/zgbQn61xuZd0ypnIDtwf6Ptb+t/VdgMAAAAAAEScH+cG1LfWvPxXI3/U/VI5bDcAAAAAAEDXjjgbQE8j39fUvPybojhwv8duAAAAAACoboUmmEsH42wA/d2G6vgshgfur7AbAAAAAADKW98pz3XK6U7ZpDnmyspOORVnA+iPNlTPfZEftD9qNwAAAAAAlLO2Ux7plJNxNsh6i2aZK9vj3CD6lobqWTNwHPWXF+wGAAAAAIDhUkqc+zvlm1geZBW4ny9vDuzfCxus69nIDtxvtRsAAAAAAPKliUq/jPy0JgL38+PygX17puH6rso4nlL6pVV2BQAAAADAcjd1ykcxfAJRgfv58mosD9w3PQHxkYE637QbAAAAAADOdWUsT5cicD//7s3Zv7c2XO/OgfrusysAAAAAALou7pR9UT5gL3A/H64o2O8nOmVP7/hoQhrR/3VffRvsEgAAAABg0a3rlMeim1v8HyFwvyjSBLA/VNzXpzrls+i+lVGnh3rL/8JuAQAAAAAWWZoAdG+nfNcpJzvluejmtV/R+9tSMFXgnqat7x2DT2kKAAAAAGBRre6Uo53yTXQD9OfnfO5QCNwDAAAAAEDjUuA+TQK6quBzt4XAPQAAAAAAtMa1IXAPAAAAAACtsSYE7gEAAAAAoDUE7gEAAAAAoEUE7gEAAAAAoEUE7gEAAAAAoEUE7gEAAAAAoEUE7gEAAAAAoEUE7gEAAAAAoEUE7gEAAAAAoEUE7gEAAAAAoEUE7gEAAAAAoEUE7gEAAAAAoEUE7gEAAAAAoEUE7gEAAAAAoEUE7gEAAAAAoEUE7kf32075Upm5csShCwAAAAC0mcD9eN4o0X5Ku8qXDlsAAAAAoM0E7sdzWaf8NQTDBe4BAAAAAGoicD++34RguMA9AAAAAEBNBO7r8e8hIC5wDwAAAABQA4H7eqyObkBYYFzgHgAAAABgLAL39fllp/w9BMYF7gEAAAAAxiBwX689ITAucA8AAAAAMAaB+/q9EYLjAvcAAAAAACMSuK/fZZ3y12gu8Py36AafZ70cDYF7AAAAAIBlBO6b8ZtoLvCcHgr8Yo7aamWn/LxTftUp/9Qpf+yU/+iUb0LgHgAAAABYQAL3zfn3aC54/5/RDXjPuys75e5OORIC9wAAAADAghC4b87q6AaJmwreP7Jg7fnz3jaPm4ZI4B4AAAAAaDWB+2b9slP+Hs0F77csYJv+pFP+bwjcAwAAAABzSuC+eXuiucD999GdDHcRbe6UYyFwDwAAAADMGYH7yfh/0Vzw/r+im5ZnEaX0OVXTEQncAwAAAACtJnA/GT+N0UaHly3/d4HbNgXvq+S9F7gHAAAAAFpN4H5yfh3NBe5T2bzAbZty/ZedS0DgHgAAAABoNYH7yfpDNBe4/6ZTfrbAbbsvBO4BAAAAgDkgcD95R6K54P1bnbJyQdu1bDoigXsAAAAAoNUE7idvQ6d8H80F7/9lgdt2TwjcAwAAAAAzTuB+Ov455Ltv6nguGnUvcA8AAAAAtJrA/fSUzck+SknB60XNd/+HELgHAAAAAGaYwP30/CTK5WQftbwRi5nv/hed8vcQuAcAAAAAZpTA/XT9OppNmbOo+e7fCIF7AAAAAGBGCdxP3x+iucB9Gnn+ywVs038KgXsAAAAAYEYJ3LfDkWgueP+X6KblWbTj+m8hcA8AAAAAzCCB+3bY0CnfR3PB+wML2Kb/EQL3AAAAAMAMErhvj38O+e7r9LsQuAcAAAAAZpDAfbvsi2bz3f9qgdryshC4BwAAAABmkMB9u6Rc9MeiueD9l7FY+e7/EgL3AAAAAMCMuSgE7tvm19Fsypw/L1Bb/jkE7gEAAACAGZOC8kWB3i2aaeL+EM0G73+3IO24OwTuAQAAWBwrOmVTpzzRKa92yjedcrJTTnfKqU75tlPe7JSnOuXm3ucBaKF7ojjIu10zTdzKTnkvms13f/UCtOOvQ+AeAACA+be6U/Z2ytcV4wPHO+XB3vcBaJF3SpzE92mmqfhZNJvv/j8XoGP+aXQfUgjcAwAAMK9u6N3rjjsn3nWaEqAdNpU8ef/QKRdqrqnYEs2mzDm4AG34ZQjcAwAAMJ9SloQzNcUIUjqdbZoUYLrS09hvKpy834/uRLZM3n9Es8H73855+70VAvcAAADMn6YG+92iaQEm65JO2dEpr4944k4j75/udQzrNOfE/KRT/hLNBe6/75Qr57j9NkQ31/1S+aVDCgAAgBl3eaecGLi/P9wpuzrlijh30tnzoxvLebRTvioRJ/guujEkABpyW3RzpKcTbl2vTQ2+QpVmI08TmTyluRuVJpL9WzQXvP+v6E6ICwAAALTfR3Hum+U3lPxeCujfE8uD/oPlVU0M0Jzbo9kUK/1lv+Zu3O8a3ofPa2IAAABovd199/KfdMoFIywjjcr/uiBOcI2mBoBy3opmg/e/0cQAAADQWmnE/NHePXzKgnDxGMtKwfuTQ2IEz2puACjnp9FNf9RkvvsNmhkAAABaaWffPfzOGpa3d0iM4GvNDQDlbe6Uv4d89wAAALBo3u7du79b0/JWRXfkfl6MYK0mB4Dy/hTNpsz5oyYGAACAVklB9DO9+/bralzu80PiAzdrdgAoL42I/++Q7x4AAAAWxfbe/frhmpd725DYwC2aHQCq+T+d8rdoLnD/1075uWYGAACAVlgaGV/3KPirQ+AeAGp1XzQ76v4/O2W1Zm6l24fst3moD5g8+UvPWtEpazQDgP5N/+ZeqmXLv7VTXmigTVYPWecbHDIAMJo/R7PB+z9o4oW82Jx2fcBk7eyU472bQSKe6JSj2gNA/6Z/cy+1IPdOq4as8yo/HQAYTUpn8000G7zfqpkX7mJzHi4+gWLrO+XNvt/zXk3yo/f72uTFTjlfkwDo3/Rv7qXm+N4pb8T9501VWEcQ40RLG3NDp5wac9t2NXRiTE8z9/VOkN/21vNM739/6O3wVzrl2ehOqLC+5LIv6i0vrfvdI6zb89FsUKvpktpwhT4GyLG54XPQsU75mWZeqIvNebj4BIbb0Xd9ncruGd+eNHrwSO++47tOea7CvcagNLLsQF/bpNGJ1ztkAPRv+jf3UnN673RJzvo+21SFacEpQPxpdIOeowYr2hYsTevzwRjbk37ob3XKTTWtT3oic8+Y65ROQHdEfp6tdQPL3zjCeqagVgreH4zuE8bTMVuB+w/0vUCB/9vweeiNTlmpmRfmYnMeLj6B/Ov3fX2/4XRdPOtvVt2bc35K6RGuGGO5D8e5A2nuc/gA6N/0b+6l5vDe6Zac9b1pEpWnQMOmTtk/QqDispY15EMxWsAlbfuNUe+DiBSwPxb1BYXSSTU9VHgyuoH8VNKTxG+j/pHnK3rtsS9mI3C/Tx8MlOjr3mv4XPQvmnlhLjbn4eITWC6Npvo4zh3Us3nGt+nyGD5Q6/Mx7x/uzriv8iAbQP+mf3MvNU/3TvdkrOuX01iRNFq7ymjrW1rUiFdF9bcH0lO462pej4ujODiUUhWloPu2Trl04GSSXs1JTwZvi+6bEccrbM9HDbTrgxXb9OXedq0vcVJLf09PfdMs5jf0jqfbej+IFIx/u+TxeLt+GCghPWz+PpoL3P99Di6AXWwuzsUnsPw+6PhAUOPmOdiux0v0X3eMWcfOgeWla/g1DikA/Zv+zb3UnNw7HcxY1z3TWpmXKgQptrekAVOw+5OoHmSpO1fVdTE80J7ybaVXeao8pUtB/fSkr8y8BE2MPD8/qgXt65baKuUsOzyk3qv1xUBJd0fz+e5/qpnn/mJzHi4+gbO2xvI5sm6dk217rUTf9WIN9QwGNz4Ik9YC6N/0b+6l5uPe6ZuM+/7V01qZgxUCFA+2pAEfi+rBlYM1r8O10Z2wN6++z6L7etKo0gS0RQ8n7miofcu26aaG9/NdkT0vgYlpgab6uVHz3TPfF5vzcPEJdO3K+N3unKPtO1Si33qlprrui+VvAwveA+jf9G/upWb53unGjPW8Z5or9HFUyw0/bdfHaIGVjTWuwwUxPJ99GoV/YU31fDWknusaaN+1JdvzZEwmgD74kOaw/hio6KdR7xwk8t0v3sXmrF98Al1Zb2E9OGfb+GKJPuv5Gut7ZmDZ74a0OQD6N/2be6nZvXcanP/zo2muTNkgbd1Pr0Z1Xqd8EaOlMqjTqwX11fkq0s2RP3ltE4HzW2I6bzDkuXCg3mf1ycAIfh3dnPRN5rv/pWae24vNWb/4BJa/+p7KS3O4nTti8ulDB1NcHnK4Aejf9G/upWbw3illP+mfezPNrTrVdN3bKwYmPplyAz4TowVUXqhxHW4qqOvDBrb7nYx63p3CD7a/3DnB/d7/1sFt+mVgRH+MZkfdp1nmf6KZ5/Jic5YvPoHsgTCfx3yOnEsDe96PyYxGXJLeEh6c9+sZhx2A/k3/5l5qxu6dnoiWvbmyv2JQ4uQU13VTxvq8X3K9t9a4Hu8U1HV/A9ue9WTxhYbaeV/JNr1ogvv+9b56L9c3AyNKk8n8VzQbvD+omefyYnOWLz5h0V0Zy+elSnMmXTXH25wCDa9mbPNDDdaZFTy63eEHoH/Tvy38vdSs3DtdGueOtm9Fqu7BJ0fflghKrJrCeqaUPkcH1uOtKDfhYHqtoa6Zfy+Lyb+ak6wcOHhS2dFQW5eZ82DS+Z2WJiE5GQDj+UWnfB/NBu93a+a5u9ic1YtPWHRpIrms+aL2Lsj2XxLdFJ6pTGL05eAAoHTtvsFhCKB/078t9L3UrNw7vda3Xl9H90HRVF0by9PgvFYiIDGNp3eDbwakp4rrY/nTxazyTo3rcW9M78HG4Ej/JnIsXRjlglKPTnj/v9mr93X9M1CDf45mA/d/jynnwVtAAvdAlqx5qT7SLI1ZF8sHgn0S0xn4BaB/Q//WjnubWbh36l/HH9pyP//QQGM9HeVmad4y4fW8NWMddsXyBw95pc58RC+VqK8pz8e5rwI1YUfJNr1xwsfAsV69T+gvgJr8R8h3P08E7oFBd+f8Rq/RNI3aE9Mf9AOgf0P/1p57m7bfO13cKd/1rdPmtuyYI7E8IP9EiWDEzgmuY3qqNZjO583e3x6IcsGT62pcn89ieoH7/gO9qTxLZVIPpSdPKyZ8rJ7s1b1NXwHUJL1S+WU0G7w/oJnn5mJz1i4+YdFd0rtmHfx9vqxpGpdGH36d0fbeRAPQv+nfFvNeqs33Tmm/9s+fuqMtOyXljD/Tt2Ipf/rKgsZcKo9PcD0HR7inJyDre387XGJdv615fU6WqHNlQ22xta+OZxuq45to58SLaXsP9O17gDpsjmYD96n8TjPPxcXmLF18AmfTLA4W+dYnY29G23+oWQD0b/q3hbyXavO9U//8BXe3aadsj+UTvSa3lghC7J/SOqZyZ+9vKTh+JiYfZC5T55UNtUd/gOm2BpZ/TZQLQu0MgPnxx2g2cP83F9JzcbE5SxefsOi25vw239Q0E5MmTTwd2elOAdC/6d8W616qrfdO/emPft+2nTI4I/Ke3r+XyRv/2gTW76JYPvHDmyVOWE0HmU+XqLOpJzQ39tVxeQPL31uyTdc5VwNzJD0IfiuaDd7/d3RT8zC7F5uzcvEJiy6lc/wi57d5i+aZqKy5wVKKgdWaBkD/pn9bqHupNt479Q8Wf6yNO2Uwb/xSTqZVJQIQRyewfodiecqbC/v+/myUC5ZcVPN6/VCizncbapN1veWfbGj5b5fYNq+4AvPoF53yfTQbvH9eM8/0xeYsXHwC+RP2fRuTn6Np0W3L2Rd7NQ2A/k3/tlD3Um27d7o5zg7MfqaNO2QwJcrxgb+fKgg+nGp4/e7MqPP2gc98HsVBko8aWLf3olyAZlMDdafRmilVTxOvQZVNPfRIjXVuiubmAwCo62K4zrJZM8/sxWbbLz6BbuAib9LxFzTPxK2M7LeV072nUfcA+jf92+LcS7Xp3un6ODso+0Bbd8gDMTxnfZmg+KqG1u3iTjkxUNerA5+5LMoFSJqYRPdAybrTK0xNpUU4r4Fllk09dH1N9W2J6U10CzDuOX6Uki62f6qJZ/Zis80Xn0DXjiG/y62aZyryJlG8X9MA6N/0bwtzL9WWe6eUbWYpLfsrbd4hhwcaacfA318rEYC4YULrNpgiJ7krygVJbm5g/bZH+SDNizP0I326xPZ8V2N9S28u3OF8D7RIeuB6NJoJ3P9S8870xWZbLz6B5deXgyW9VbpqgdsljdS8Zkp1582h9ZXDFUD/pn9bmHupNtw7pUHgS2nj04OX1mYAWUq3Mmyy0f0lAhBNPNW7N6OeHRmfe7nE+p2OZvJ8pddeyuS5H5z0t+0+K7EtdY2O759k96IAaJdfdcrfo96g/d2adeYvNtt08Zlu0Db2rsX29K7b0qCLY9GdI6jIFb2bjXQ9lR5UnexdG57qLSONPnmwUy53WDFDrhzym3xvgdohDXja0js3pEFEH/V+36msncL63DRkv2xx2KJ/BP2b/m0h7qWmHbi/KM4O0DsSLU9pNDhiPGuy0YdKBCFur3m9Lu91jMNS5CQpGF8mcP5ag234WMWATdtfXVpfcjt21FTf0tPijwKgnerMd29S2vm42Jx0feni8pZePU9F9+H5+7E8nWCVNIE7etd9VY7f1wUomBFPDDmOn5uzbU33Qxt6gYFd0c1v/GbBPdKRKa3rsHm0XnfYon8E/Zv+bSHupaYZuL8gzg5WTuf6Oh/0pDc+3oqaB47vG2igxzI+s7NER1X3rLvvR3GKnGRjyY70ngZ3+vmd8k2FTj09ob+pxT/QXSW2IZ2Q1tVQV39utkf1wUCLvRXjB+3/O5qb74TpXgw2Wd+XYxxzWdcb10b3YfmoyzwZ9T28h6YMS3O2fU628emo9uZvf3loiuv98ZD7iwsduugfQf+mf5v7e6lpBe5TkP6DXj2fRj1xzSXpLa9PooFc+ccGGmhTxme2xOTSpiS/j/Kjux8u+ePd0PDO31HxZHKid2HQRgdLrH8dr2Clp1zH+5Z5oz4YaLFfdMpfx7iZ+34CfRHTuxhssr40R8+uXnmg10+fLHHMpRuewdEeD0V9b4+Y/Iy2urbg2L16Trbz3t7N4aFesOBUhd/v9S2917jP4Yv+EfRv+re5v5eaRuA+pcN5p1dHevBb98OU53rL3lznQq+O5U+Is4bzbyjx4zhU0zqlfF2Dr5e8NOTzR0qs25cTOrBfrNihp7cIrmrZjzPt/xMl1v3hMes5r+8Hk3fxBNA2qRMeNd/9bzXfXF1sTru+CyJ/VE/WoIp0ofpqxrVbGpm1vu9z6b/vjnKjGE8MfBfaYlgA7sycX3Nu6t1jFAUtp+n3Q9btsMMX/SPo3/Rvc38vNel7p/TbeL23/K8bOEc/3LfsWu0ZaJy84fwrS3RO39TUkIOdbBqRnffqQtbEulnlhQkd2KnT/6BiICdtX5tGYF5Xcr2vG6OONMnPh9HcGxt1uCXqnYiyreX2AKraN8Jv7Y+abe4uNqddX7Kt4Ljb2Xe91D/QIQUoivLwpu+8X+LY3u9Qo4XeLrj2nndFg4mmfd29rSDwtNYhjP4R9G/6t7m+l5r0vdPBvt9JXfORpBH76SHvu9FgCvDDUT4PfNErZ2dqWJ9HMpa7bYwOeRqvqqXJcb6O6sH7tkxkU+YVwSoPadJDn/QkKwXC7x3S0exs2UlK4B7Iu1n7r4q/s8O9cyHzdbE57fqid30z7LoszcGTci0uveF2omJ/e2mnnC5x/ScnNW2youC4fW0B2uBAwe/2jimv3w0F67fNYYz+EfRv+re5vpea5L3TczG5GFutsd3zYvlo9WEjv8vMqj7O06OsXF0vFXznhSg3ierqCR/gaUT5txV37tfRjuD9OzGdAPK6lp2kBO6BUS4WB0uaR+Znmm0uLzanXV/ywJA6j/Q+81LfdcYVI9RRJg3gXQ43WuT6guP1wAK0QdH1/LRTeKwuWL/nHMboH0H/pn+b63upSd07PRaTi6+9W/dOGBytXpQH/pUSK7lpjIP7syifImfJ0RLr9M6UDvKUSuZEzNbI+6yHOZMoH7bwJCVwDwz67Qi/sS2abW4vNqddX/LykDpT0OLBGD+P4/YSx/mLDjda5M6C4/XZOd/+ohGZn7RkPYet48cOY/SPoH/Tv831vdQk7p3uj8nG12p/WDs4Wr0oD3yZnL6jpqR5Kqq/QrKhZMM9OMUDPb0mM0rw/tIpre+2mE7w+JEWnqQE7oF+aeL07yv+vvZotrm+2Jx2fcl3Q+q8r/e/38Z4c+mUud4SZKNNiu5Z7pjz7b+xYPufasl6Dns7ed4nWKR5+kf0b/o3/Vu7722aXv6umGxs7VQ0kO3lWFQLuu8tsaJ3j7AeG2O0J9O7SzbedVM+2FPw/mRUT5tz8RTW9fmYTvD4+haepATugSU/6ZS/VPxt/TnktZ/3i81p13flkPrSdcdXvf++Zcx6VpU43n9wuNEihwqO19vmfPsfLtj+W1qynocL1vMGhzL6R9C/6d/m9l6qyeVPY1DyC3XvgKti+VOfNQXfKfMq2PMV12NNX8dZJUVO8mqJ9fm2JQf8zVE9Bc0XnXLBhNfzixLrdbjkstJTxJR6Jz0V3dEp+3sXLoPLO6H/XQj/UFpZKOeNiu36P9EN9jPfF5vTrq/MAIZnJnQOP+1wo0W+Ljheb53z7X+n4LfalofKrxXsp+0OZfSPoH/Tv83tvVSTyz8+hdjKxrp3wJ6onge+zAjkgxXX4/kRTzZFua1GXZ8m7Rxhx38QxQ9U6nJZyXXaO0Yd50d3soa27iOaI0gucD+r/lixTf/eKVdrtoW42Jx2fUVzDx2r8RpCYIJZUjRYZvMcb/vKgu0/1KJ1falgPz3uUEb/CPo3/dvc3ktNI83oTHk7queBvzjqG42dZD0IKDt5y6aSAZSdLWv3PVE9sPbahNbtrpLrc82Y9dw6sLwdfo4LQZBc4H4W/Sq6gfgqbbpbsy3MxeY060sDGE5N8FgsOu5POtxoidUljtdNc7z9txZs+30tWtf9Bet6wOGM/hH0b/q3ub2XErgfIuViG3xSVSbH+IoSJ4qyaU/SyOvBHPvptZ91Jb//aMkAykUtbP8nonpw7eEJrNfLJdbjeA31XDiwzHV+kgtBkFzgftb8LKOfKip/0mwLdbE5zfo2FhyL30R9E1+VyeF7zOFGS1wRU3iVuUWeLNj2K1q0rkVza73qcEb/CPo3/dvc3ksJ3A+xNUafMOVEwQFYdobkgzHeRBIflDhpfdTiffBiVA+w3dTg+qR9VmYC3f011LWmb3nv+TkuDEFygftZc6RiW6bz2WrNtlAXm9Os76GC4/GxGusq88blaw43WuLmEsfrBXO8/R/F7AQQny3YT+/P8H54JebzuvGbGWh7/SP6N/2b/m027m0E7ocYfPpTJcd4mUDGhQXLuC3jO/sqrMP5JS8s2p436lBUu1D6urftTdhYch3qmERjbUz2TQLaQZBc4H6WPFKxHf8a3XlCWKyLzWnW905MbtRRmTmO9jncaIkyx+uaOd32tTP2O30mZj9InEfgfnr0j+jf9G/6t9m4txG4H2JwJupdFb5bJp3KsAkxLugdpIMB6bUV1mF7yQuLm1u+H9LIzKojOp9paF0eLlF3epuijgcH/Q8JrvdzBFomvZVWNa/9rzTbQl5sTqu+rJSH/eXDCW7XUrnD4YbAxtTdVrDd22YssHFihveFwP106B/Rv+nf9G+zc28jcJ9jQ0aDrK/w/edjvFHZWaPMq858faDEOqTZ21fMwP5I+d0/r3CxdKa3D+v2fpRLA1GHbb3lfavvBVrmZ7H84XJR+VfNtrAXm9Oqb2vBMXl/zfU9W+J3cI3DDYGNqXuh4B5ibcvW974QuBe41z+C/k3/tqj3UgL3Oe4faIxPKn5/d4mTRd5szndEPa+0lJkscJZyyV0a3SB22QumF2quf20MH5lQd1qbx6J6iiaApq2M6m9BvdH7Hot5sTmt+p4uOC4vrrm+wwX1fedQQ2CjFYYNBnq3het7TwjcC9zrH0H/pn9b1Hspgfscbw80xlMVv39biZPF8xnfu7jXcfV/7mhUfzJ2VcmLintmbL9srnDBdLrmE3LZ1EN1pbVJrw2lBwU79L1Ai/yp4s1r6sN+ptkW+mJzWvV9MsGbl5W9645hv4UDDjVm7Jp63Rxu9/qYzACcOhWlEpjloKfA/XToH9G/6d/0b7NzbyNwn9O5DI6s3tLAyeLljO+9FeOnyEnuL3lRsWEG98/TUf6iaXuN9e4rUd8PNW9revCwNgDa4XcVb1y/D5PRuticTn0XFhybe2repk0lfg+3OtRoketLHLMbF+x819Z5peZ5clomT/+I/k3/pn+brXsbgfsMgznf0hPiqq/4n1/iZPHBwHeyXhN5bsRteLNE/V/O6P5Z3Vv3MkGjOmfN/rpEfdLaAPPql53yt6gWuP+tZnOxOaX6it6Su7TmbXqyxI3HCocaLXJeiXP4pjnc7oNDtvdkS3+nRfnB33U4o38E/Zv+bW7vpQTuMwxOLPvWCMtIP4qifOj9+Zou6/2Y+v/+VYyW6qXM62hN5IBP7ZYeNKya8g+jv7xTU30bStZ3h34SmEOpL/qfqBa099rz7JjHwP2LQ+r4qIFtOlrwe3jUYUbLrChxHt88h9t9PGZvAM7zBfvpVYcz+kfQv+nf5vZeSuA+wxdRz+ti35U4YSw99Xo34283jVhv2TzwW2s+OaYHFacneDI+WmIb68qJdW/JNl2vnwTm0MGoFrRPk5Ct1mwzYx4D98eG1PFIzdtzU8Hv4YzrA1rqRCxW+oqigTh3tXS994cH5egfQf+mf1vUeymB+xIH/FUjLqtMuprLO2Vvxr8/O8Y2PFmi3jM1B1WW2m2Ssz6X2c5TNdX1aom6PlnQ30yZWdvnodzu+ocF9S9RfUK2n2u2mTJvgfuim5e6c3y+WFDfcw4xWqroXmX7nG3v7oLtvbil6/1SwXo/7lBG/wj6N/3b3N5LCdwPuG+gEY6PsawyIxTTJLKnYnnu+TVj1PtxTC6FzJKleQFOTnBf3RrlHlCMK43uL5N66KmWHMNpfoVJpuwRuIf5lfI//r3ib2WzZps58xa4H3bz8m3N23JxDE+NmK4fLnGI0VJFI912zdn2vjxkWz9v8XoXDSDa7lBG/wj6N/3b3N5LCdwPGHwyt3+MZRXla1rqsAb/7cYx6rwwygVWHqy53ZYeeJyZ4L66oMR21vEgYVPJNm3L61YvN7SP8wjcw3z6SZSfCHyp3KfZZtK8Be5ficnl+Cx6+0/uXtrsnoLj99k5294fhmzr0y1e77cL9tNNDmX0j6B/07/N7b2UwH2frEldx3nCc2dUDw4+M+Y27ChZz3U1t13/E811E9pfZSYd+aaGeh6PciP7V7bgGN4V56ZhmgSBe5jP/vC9ir+RP7fkPEj7LwabrC9dG5wcsvwdNW5HGk14akhd475BCU0ryj89T7nTry3Y1i0tXvdvC9Z9lUMZ/SPo3/Rvc3svJXDfZ2tGI6yreXn/KOjAzhtzG8qk5/m2gbY73Lf8Wya4z4q29bUa6vgwJp96aBRX9l2MHZlgvQL3MH8eqfj7+Et0R+gzm+YpcL+x4Fi9oMbtOBDSRjHb0sPWMw1fR7fF/TH8Deg2P3gelrLzc4cx+kfQv+nf5vpeSuC+z2Bqmw/HXN6NFQMfG2vYhm9L1HOwgbbrf6J+/4T2V5kR9+Pmnb+g5L57eMrH7treiW1pfe6cYN0C9zBf/imq5bX/PrqTnTG75ilw/1BMZhL5ogDIMw4rZsSRIcfx8TnazmH5f99q8XqvjsUZNUqz9I/o3/Rv+rfZvJcSuO9zbKABHhtzeedVCHzUMbHptSXr2llzuw1u5+sT2l9lgupbx6xje8k23TTlY/f1ODev/2r9NDCCn3fKX0Ne+0UzT4H7w0OW/VxN659e2/10SD0f6oeZIQ/H8FSQK+ZkO78bsp17Cr6bUi5Ma8RiURD0Docw+kfQv+nf5vpeSuC+J2t0fB25oM6UCHp8XlMH9vuSQZa6c9DfknESPH8C+2xLwXaequEkVCb10Okpn/RfaOjCC1gsKdfof0W1oP3BkNd+HsxL4L7otehtNa3/EzF8BNfFDilmyPUF5/lr5mAbLyvYxiuHfPfa3rX+tEb+FQ0iWu8QRv8I+jf921zfSwnc9zyV0QB1TJjydYnAx/U1bcPhEnV9OKGDdM8E9tkTBdtaRwD7eIk2PTLF4/bpBo8nYLH8e1QL2v93mFhsXsxL4L5obqELa1j3zUOW/0OnXOdwYgrSsZ0GtOztlJeiO7l4lYeqx4Yc19vnoH12DNm+Y0O+d0Ff29wwpXUfNmL0I4c++kfQv+nf5v5eSuA+uqOlBwO0J2pa9qGCTvKJmupJo+jLjO5/rIH2ezajnqPR/AzQXxRs67g5l6+KcsGraeTpS29oZL0N8Km+GRjB76Ja0P6vIa/9PJmXwP3TI968lJVGCn4T+W/f3exQokFp1NzW3u/n6d514Ptx7jxT/WkT6/rtzEM+6meGbN/zOd9J9zFHar5fG8VL0d45tpgd+kcc+/o3/dvs3ksJ3Ec35/vgxteVp/3FaD5FTnJvyWDLrQ203ys5dT3U4D4rGjVQx+s+e0q26aSf1F4d3QmERslhBjAoBeC/j2qB+82aba7MS+D+4yHLfXnMZZ8/pO896TfBBOyvcI5+peKyrxuyrHfmoO1eierzYS1959OYbk7uL4es++V+FugfQf+mf5v7eymB+44PMjb+pZqW/WQ0nyIn+azkhXwTeeW+ivyn61c1UF/RpDffRj2v+31Qsk1vmdBxmoJrB2L4BCsXBkB5P+mU/4lqQfs/aLa5Mw+B+wujuTcOz+vd3OVdc9zoEGICVvZusC/uXXs+H/VOGv5ptHMupybvVVJZm/H55xu+lylrzZD1fs9PAv0j6N/0bwtxL7Xwgfu8CU7fbLiB63wl5e4KAZe6n6ilE92wFD0pZc5FNdf5dME21jGp8IYKbdrkbNepfTf3jsei9XhNnwxU9B9RLWj/VpiMtt8b0R0tslT+NKPbMQ+B+6IJrnaMuNy1Q4IS6c1JI16ZppNR34R79w35/cx6motTJc85g6ko757yem8bst67HP7oH0H/pn9biHuphQ7cp9e6ho0WX1dDHVkpXep8JSWlTTkR00tvcGWJOtPbAHWN9N9bUNfemuo5WKFNv4p632RIE4Xc1in7ojtSoex63BIA9VzEZpW/RHeEPl2pLf4+0Eb/OqPbMg+B+xcLjt9tIyzzkshPL/BS7zoSpinrOnHUebrWDLmneHzG22nYIKPbep+5aeD3fqAF6503WCnlEl/l8Ef/CPo3/dtC3EstbOB+2BPi/lH34wbYs3JqXVPTNmyLaoHdVD6I7FdmRrW1ZL1p8t9x8uun/fBsQR115dS/p2KbppKedO7rnRyvHnLcrOj9LY1AuLnXJulHmF5ZSrnGjo1Q99KkQisCoJxfxvKg87Dy9953OCvrjb3fzOi2zEPgvqj/fKri8tL8R99F9qv/tzv8aYmskXYHx1jeY5E/CGeWVRnklMq7Md28v0vyUqE+6NBH/wj6N/3bwtxLLVzgPr3if2cMnwihv3zRKXfF6E+NVw0s79Ex139db/2PxGgB3n/0tn131JPC5oGKdb8a3cB2Fdt7+yFvmek14TrS1aSHLC+N0a7TLI8FQDk/i+oPCX+j2Zb5t4x2+rmLzanUVya93aleP1/khiHXWOkh+wUOfVriqpzjdJzX3y+I/Nfur5jhtnq7Qn/3YbRjtHDeeS0FR9c4/NE/gv5N/7Yw91ILE7jf0zuoT8fowdGUqy2Nit5Zse6lE0RKkTNKbuC7e/Uej/oDvukJ3aHoBqz3jbBuB0esN5000tO0lN6lPyVRGjWeXr1LI/nT0/+jJZYz6ok21fVkr21/iNkM2M/qrNvAdKQ+6HDF88t/aLZM/x3LX+2cVbMeuN8d5d+OeyS6af6W3lJLAyxu7l2TZL32n15BPtC7yYA22d1QACJvVOKjM9xW95c8R7wT7Unx8Ug0mxaUxT5P6B9ZRPo3/dus3kstTOD+UNQXJH2mYt1f9Dq2UVPk7I/JBH9PjrBu7/Z99/dxNtd76vDTSKC7e21/puZ1TXnlx520YlXMdrC+/3UngDL+peL5JQWnf6rZlkkj6wdTDf2Pi82p1ffykOV9Hd23A6sOfvisF6xY73CnpV6N7Nyw40o39lmpOI/H7KZlTGkBPh3ye08Dux5u0fatiOx52NJb0yaIR/8I+jf922LdSy305LSMb+ltgk0Fn0tB8jSK/oUon6Yo66n+69FNnSOfO0A1KSd7lbz234dRVHmyRrD9eYa357LoPgzPKm2vL10PnBxyHL/Y+9zK3nVIGgzxUXTftDvVKylX7+He31LqPW+x0XYrIvst4oM1Lf/enN/TnTPcZukN3/Q279e93306B6S0H2mOrLYFIHfmtP8tDn30j6B/078t3L3UpO/VmCMpGJ/SzIzyalE6gaSJXJ/pLeOLgYuE9N+f9f72RHQn4pXPEWD0zv6vUe1h6T9rtlxvZLTXv2iWqdhYcBzfqYmYQ5saPt5TwO+jyE4bSvOy0pIc1CzoHxt3bXRTCHuzZX7p3/RvAACtkl6h/M+oFrT/N82W6xeR/ebCFk0zFQ8VHMveGmEePZpzvF9cYx1X59Rxl+ZvVNbr8GlC+XWaBv1jo1IalTS/Xnqbydv9803/pn8DAGiNP0W1oH16JdpIo3x/yGm3n2maqRg22fJxzcOcej/jeP+igXoezbnJ9hZsM1K7fp3R5ps0DfrHxr3ea5u3NMVC0L/p3wAApu63US2vfRppJACdb2WvjZqYEJLR9seZKM7fC/N285t13D/bQF1p1OmHGXU9ZTc04tmMtn5Qs6B/bNxzfW2zV3MsBP2b/g0AYKrSa6DfR/mgfQrw/1KzDfXbnLZ7Q9NMxdaCY/oOTcQc2pZzvG9tqL5LOuXbjPpusCtqdXNGG7+qWdA/Nu7Jgba5RpMsDP2b/g0AWu2ZqJZCZbBsa3j91o25fvM2W30VaUTm/1Rsn91+EoXey2m7RzTNVDxVcExfoomYQy9kHOtpZO2qBuvMmgz3q+jmhGZ8F0Y3dUl/+34Q3TlqQP84ufOpNygXj/5N/wYArZUmiEmvyr7WKSejeiD8cMPrl4LPaZb5t0dcv6VyureuVy3Qvv1/Fdvo3/0cCv16SPv9RvNMxcdD9smXmoc59UXG8f7OBOrdHUbMNWFlb//1t+tnnXKBpkH/2Jh1kT0HwEFNs5D0b/o3AJgJN2Z0rkVlwwTXL9X1UKecKLlu6eL7lli8iVZ3V9yHfwmjHspceA57g+EyTTSVm+5hx/X+BW6bNPI6veadUiXc12uLV6I7KdjLQ9rznt7f0+Rsp6L70DOdb9PD04c75dI5brM0IiyljjgQ3Zy3J3rbnx4apwDYkw3+zlOe3Vujm//13YG63+79bcllOcf7pPLEPh5y1NZtXywf6XmRZkH/2JgtkT1JZio7F7RN1nbKxozS1Kjzafa5+jf9GwDMvPujfNB3GhP4pNztp4as07e9i81F9OuoNhnt30Je+zLuK2jHlZpo4rYX7JPtC9IOK3o3m+lB5TtR/GBzz8D31/VukE+XOF+c6dW1cox1vTi6D1TTG19P99Y7vTL9Xe/vWdKDxd297TvZO/+ngHYdeYjTA+tDMXwSx6VyqubjKrV9eiDyTZRPZbYr5+/XTfCYy0qzt80paSQPxfKRiIIa6B+bcW3vfD+sbUb9/U2jf7uor740ue7SA/pR9u/9OX3+2pr3wTT7XP2b/g0A5soDUS7w+0NMZ7T2gSHrtGlB99nPOuVoVBtt/88O9ULpTY+/xvA3Fpi8/QXH9voFaot0w/5877z4SUG7XNH3vXSuPB7V04+9PiQI0W9rbz+ldGzHCm7UX8tZRlrHryL/Ie2or1unB8DvDizv/eiOtlzT+8xlsfwttDO9745rby+YM5ju5va+G9vz+258T/f+/aWcfnjSnskIsGx0Wqrk7lie81f6APSP9bq81zd+G6On3PygBf3b7/vqO1pQ3ygj1bNSK71f436Ydp+rf9O/AcBc+rDkBe09LbggWCovL+i+SiNgj1S8EXneIV4oPZR6r6Ad/59mmophD6kWPX/vIznt8lXfZ/pTah3qBSGWHsKmEXZ3xfCg/sMl1uPe6I44fKEXcPgyyr8JsPT9ovPYzhF+008OLCO9pXBHzuevyKjzxTH2zaW9G9j+5X0e3VGIee6Ks6Pus96omFZO5ocy2vE6p6aRrmHSw7A1mgX9Y+3ej9ED9sNSC026f3u8d92eUo8cHvKdYyO00bU5y3qspuvoafa5+jf9GwDMtU0lL2g/nsK63Z6zLtcs6L76Q1SfWNhFVLF9JdryXzXTxG0o2CcHFrx9zs9plxd6f196JT69tjxsJFu6gc5LS5ZGgFcdPbVySBDl2oHP3lnyXLarQv0pjcFHA9//Os59CyHLPzJu4EexJZYH3l8peS5Owf0vctrgzikeazsHjpH0FsH1TlFDDaakeEKToH+cqLxUQleMscxJ9295adNGeZD7TM6yNo/ZztPuc/Vv+jcAmHtlA/ep3DDhdbsjmn2lc5b8JqrltU/5lH/m8C70p5LtuUVTTdw9UV8wdx5dn9MuW/sCFmVHQD0zpJ3vHWHd9mYs5+TAZ27q+1vKE5xGmuelBbitZL0pcHI8I4BwccH3VkT2Q4uqskZXVgmgDUt9Me20F+mB+dGBIMtNTlOZHh5opx2aBP3jxGWl2zxWw3In2b+tzvnOXRXXOT1w+C6nn1sxRltMu8/Vv+nfAGAhPBnlg8GTfo3x+WhHyp5pK8q/nlV+49AeKt0M/blCe/5ck03cuwX75NoFb5/bc258r+kFEQ5VuCHfMqSdR0lN9kjBctJN/dJkrVtzbgj7cwCXefiwMZaPdP8hyr2hdVWMP/ova86Y12vo85bemmiDNNHuKwPH221OVf8r/d5e6GuflIrwMs2C/nEqjkW5dDht7t82Rz1vDezMWc5bY7TDtPtc/Zv+DQAWxsdRPng5StqEcWTlHV+0merTKJn/impB+z84rIf6VXQnm63y9gKTdVWJ/bJiwdsoazRhmgPjs955vcqE4udHvbl0X4z8h64r+s7tdw98b1WcO49HupG/uUR910R2XviyI8EeiPEeWNyX8f2U9mZtxXbLS9v1dMuOvfQ2XP/ozbudsn7sq9+OsxMtPuochf5xavJSCW2vYdmT7N/2RD0B7rdz2mPviG0w7T5X/6Z/A4CFcVFUn7zpwQmt25pY/lrpkQXcR3+K6nntVzq0M6U832mU/d8rtukRTTfxG4QyE81dvuDt9HlkP1w9NWLb5LXzqRGW9VnkjxBcGnWYl6M33QzeEt2RimVG2l8Y2SMrX6xwvH2V8f07Sn5/W06bjZJH+aWcfXBrC4+/C3v7MPXTNzht/SiNXv0ohs8pAfrH5u3OaZd1NSx7kv3bKxl1vVRxfS8bcpyMkst92n2u/k3/BgALZXDSo5MlbgaOTmjdsoIhexds//w2qgWZ04W0vPbn+nmvHd+L6gH7pfInzTgx6Qbz7ZL75Z2Yft7vaRn20HXUh6vD3rSqYl3kv7WyNFI05cA9v4Z2SEGQrJQRxysEaH6f8f0votxosity+s3dI27P2znt3+aHsRc7bZ3zuwT94/RlBbw/qmG5k+7fsvqXqvPOPJ5zjJycwT5X/6Z/A4CF83IsH+3wTbRjos4XYvycjrMsjWj4W1QLMG9e4GM5jVz6Raf8slP+qVP+Lboj5UcN1tcRhKOcdBOa0r68P8K+SaOhPojuyKh0zkg5wlcvQJvl5as9Psb2/6Omm/vtGctYGn34YdQ7gvyhnHUuOxdKCrScyvj+phLfTWkPskZevjvG9vyQsby3nSJA/6h/LC0v4P14DcueZP+WNwH9NRWWsWrIfd1LI6zTNPtcAICFsyIjSHBR5I/MqGsyo7K+GKjzywXaNz/pbe8/lFaUXzldNOpQzftrzQK02cGcbX94xOWtGtKexysuKytP+52dclfvvw/V1AbpQe6ZyM4tX2bkXpqvJet1/QdK1p/VV56J0R8w571FsdcpAvSP+sfSNkZzg1sm1b9FZOeBr/og/Z4hx0LV3O3T7nMBABbOTQMXTp/0/v2Skhf/Tc4kf3lGfc8u0L75cwiWt6n81OmCljkW9eY1vnTI8f9aDeuWJgpM6QNO9+qqwzs567urxHdTkDxrtHzZBx95k0OOM4nstpxlXutwBygta1R4XSnHJtW/JVlpkV6p8P0VOf1c/3rPSp8LALCQHh0ScHg9ioOZTzS4bndn1Ld1QfbL7hAob1P5xqmCltmQc6x+OMYytwz5DVR5aJoV0E4j7Pb0/vuRmtpg05Dfa9HIv+szgi/p1f0qE+O9kxMYGicH7PMZy/zW4Q5QSdb5uY43hSfVvyXpIUPW6PY9FZZxx5B+/esZ63MBABbSBwMXUf05GW+K4oBmCiisamjdBieVavvkfHVJr/HWkZNdqa+84VRBy+S9+j5OSpW7h/wGbquwnPszvp/yMx/t3eDXlabhSM66PjbkOym386MZwZDUF1YZeXhzTt1PjrlNWSkEDjrcAUpbFeMHvKfdvyW35PQzN5T8fgqmfzGkX98/Q30uAMBCujCKA+PDXq9cKnc1sG5Zk0odWoB98vPIT3+hTK/8m9MFLfNyzrE6ziv6B4b8BqqMIs96tX8pR/P9NW3/NUPWNStV0NroPtQYPL+mQPmuEeo/0kD7523TToc7QGlbY/wJXafZvy15MqOuU1Eul3yyp+/+Lqs9ts9QnwsAsJB2DFxMHc74zH1RHNT8sIF1yxrtf8+c74/00OSNECRvY/md0wUt80PGcfrRmMvMG5n3XsXzWNZIxzS5bXotv643tJ7JWdd3B9YlBXBezAhcpH7rjgoBkDIBjHHTMDwV4z80AVh0Wf1DHSnHJtW/Lfkoo643S3439Rsnohso/7iGvmWafS4AwMI6OHBR9WDGZ9IrnyejOLBZ98R5D2fUccmc748/hgB5W8svnS5oketyjtNxJni7bMjxf3eF5Wwdspw6RyN+E/mpatID50MZgYMven+/uoGg0Lgj41PA57uo/2EMwKLJelu4jpRjk+rfkvNz6nmw5PdfjbOTxmYt55MZ6nMBABbWiYELrOtzPvdsFAc299W8bu8NLP/zOd8XKTAsr317yxqnC1pkb85xet0Yy9yTs8yTFY//53KWk4LSq2va/utL/m5TzuGXojvZd525dLMCGKfH3L68OQsed7gDlHZRNJdybBL925LtOXVtqvDd12P529VL5ekZ6nMBABbS4IjNH4Z8dkOJi7UUtLigpnVLeREHX0V9ao73xS8ifySLMv1y2OmClnkz4zj9ZsxlfhT1TLaal27niRq3P+8hQ0oHcHt0J/Q7r6G23xj1p8lJqQO+zFnuzQ53gNJ25pxL19ew7En0b0v25dxrFaWaSSP1U+qelAs/zblyMGedt85InwsAsLAeimqvkL4TxQHOvTWt220LFLxI+SAPh+B4m8u/O13QsnNG1kRz+8dYZt5oujTavkoO3MuH/I4uq7EN8gIRk5jE9fcxXvqCLLsj/4G4fMAA4/UPn9Ww3En1b0u+itEGkiy9Jf1Ar/84kbGcNDhq9ZhtauJ0AICGDaaiuavg89uiOMD5ZU3r9kIsDx7Na/BCXvv2l91OF7TIppzjdMcYy3wlZ5kPVVxOXgC67rdWPsip5/IJtP/LOXVvGXF5aXRk3htXrzncASo5HuOlhZl2/5ZcmlPXYwXfW3oI/2nvvinvofy7M9TnAgAspLVRfeLXdAH4VRQHOTfXsH5Ho/4JpdoovaYqr337y6+cMmiRR3OO01FTlV2Rs7w0r0jVnL2v5izrzprb4IeceibxgPfDqDcNw3NDzj33ONwBSrsqxk8LM+3+LXrLrPqAOE1wvjQp7zW9f3sgZzmPzFCfCwCwkAYnPPqi5PceiOIg55tjrlvWq6h3zeE+uDLktZ+V8lOnDFrkSMYx+ukYy3st57i/vuJy8lL4pH+re3Ln0znrPAl1BjA2F5x7TO4HUN59kZ0WZtWYy51k/5YczNmOlUO+83gsn9D8zZy+5aYZ6nMBABbS4AXh8yW/d8GQi7cqo/eHyXoV9aI5a/90kf/fISA+C+Wo0wUtcl4sn7g7lX0jLu/WnOP+gRGWlReEfqmBdphmEKGuulO/llI65KXe+XrId9f6KQAskzUq/p0h/V/ZkfiT7N8istP9vDfk8zfG2Vz+S2/Krcjpr/LSj9415H5Q4B4AYMIGLwirvEK6P4qDnY+OsW6DuZY/msP2PxgC4rNS3nC6oEW25hyn20dYVsqt/nXGskZNTfZkzrrd1kA7nIh60wX1S6kIhuXtzQtgVBlxnx7eppzBKf1cXkqEAznf3dTb/gv9HAD+V16gOmvi8Ct759Gyc5NMsn/bkFPXkzmfT/3eseg+1L+m799vyFnOKxnLuLbXdrta2OcCACyca2L5q5drxvh+VkkpYFbWdNH9yJy1/90hGD5L5d+cMmiRp3OO08tGWNaLGct5O0ZPKfBpxvJOjdgXFHm7oSDKw1H88DkvgHFNyTpSf/tOnE1XkLdPb8/4bsrf/F2nPOWnAHCOG6Nc2rcUbP6q1we2sX/Le5h7a85901J/OPim3D05y9md0R7pIf4rLe1zAQAWzmCe+ndHWMYHURzwHGWyppti/DzLbXZ1p3wfguGzVH7nlEGLfBzZr71XlfUAMQWTR83Vuz7n99PUxOKP59T39ojLW9cph3rLeK3gs6/H6JP9pVHy7w8EKg7lLG9wBGJKQZdGVabJcVf7KQCc48ES/eOqXl93tHfeb2P/diCnvrVDPpvV970YxQ+ZV/fuA4vaY5p9LgDAwjkc449ozxsNUjYXY55HB5ZxYo7aPU1weiwEwmet/B+nDFriwppunG+O7FfnxwkG78pZtx0NtcWwN792jNAeSymDXo/iNw4ezak3TVp7xZDvpTRHS2nq3ur792+jOHfwxb3ASnqb7RI/BYBlsh6qvt739zQ6fikH/o0t7t8+jOJ0bGlbllKXprcHsoLuHxQsJy0jBc/Tm9dFg6Sm2ecCACyUrIkNbxxhOSt7AYSioOc1FZf7fkxmNMs0vBWC4LNY1jht0BLbo1ou9Lwb5pNRnP+3qqwJVlPasyZHhh/OaY/TJQMJ6+PcOVv2R7k89VcOOV+kwHx6m2FpZGRKQZBS3rzX95kP49yRk3k582/p/f2W3nJTWoaNfgYAmU5lnEc/7fVDl/T1GQ+1vH87ldMn7Oz9PQXZl4LyKXVa3gPjk5H/Nld/e+xseZ8LALBQtsXyV0hHvWh6JIqDns9VWN7amNxolkn7Waf8szJz5Z+cMmiRfTnn2bJ5eu+Ic4PEX0R38rpxpT7kh4z1OtRwe6Tgw4kh/c/hXh/SP4lrCqRv7QUMltoiBUnurVj3azHag8APYvlkfmdKfC/11Zv9BAAyXVDyHFx1QNA0+rfTJbclrdfGMZdTpe+bZp8LALAwXojl6RFGdXGJgEO6SFtbcnmDo0nTss+3ywB+9FXOefa7WB4M7re+F6zoT0GWRhzW9Xp63oSAuybQJpsif1RhmZLSDG0Yod4UmDhesa40anNNhf3aP4r/Boc/wNB7kqJzcErLUnUy2Wn0bx+W2Jb01nNRepv9Q76frgNGGRw1rT4XAGBhfD1wAXXPmMt7tcRF2v0llzU4mvSI3QXwo8sKzrOfRXdU21JQ4vze/0/n1aVRbilA/EDU/0A0L+f7hRNqm5QmoMyE6f0PhVMAZ9y0M5dGNw1DUX2p3YcFSB4a8t3Ux17k8AcoNCzg/UyM9obxNPq326M4+H1xieWkVD6PdcqXvX4vXQukCe7TRLPrZ7DPBQCYe1dkXEyNO+rhxhIXbJ+XXNbgQ4UH7TKAH+VNjvdI728pXc4n0R0Jd6r3v+mc+krvXHrdArRRCgo8Hd3gzQ+9dkglTf6a5hhJDzHSm111PrhIgaC7ekGJE31t/1Gvvi1RLliUgkPf9L6fUhg93ynXOuwBSkvB9P195+L00DS9aXz1DG5Letj7Xl+fniYnPxijzUs2T30uAMBcSyPf+wM+X9e03DIjDjcVLGNDxncELQC6DkY9E4ADAAAA0DLp1cr+gM/+mpZ7TxQH7osmcdody3P6AtCVNSHcD5oFAAAAYLalvMeDE8lur2nZ50U3gFSU3/CSIcsYzJW/zy4D+NHVOefVg5oGAAAAYLalSQoHgz7ralz+U1E86v7hnO+m/L+nBz671S4D+NH9OefUuzQNAAAAwGx7Ls4N+HxY8/KzctQPlpT+JmuSvpti+ej81XYZwI9ezTmnXqZpAAAAAGbbF3FuwOfxBuoYzKGfVXZmfO/Rgc8ctrsAfpT1RlIqX2oaAAAAgNl2eSwP+mxuoJ4tURy4P5LxvQ8GPrPHLgP40cacc+l+TQMAAAAw23bHuQGfNHpzRUN1fRXFwfur+j6/NuPvV9hlAD96MOc8ul3TAAAAAMy21+LcgM+hBuvaG8WB+2f7Pr89pH8AyHM45zx6kaYBAAAAmF0rY3l+5CZT0ayL7HzM/eVkp6zpfX5f5Af1YZZ+Z1C3dJ48k3EOPappAAAAAGZbymU/GPS5uuE6n4/iUfe7e589NvDvW+0yZsglnfJCdIOrazQHNbsr5/z5kqYBAAAAmG1PxbkBn28mUOc1URy4/6xTNsTy3PtGLjMLLuyUJ+Pct0sE7qlTOp6+DIF7AAAAgLmUAuT9AZ+DE6r33SgO3r8Sk8u9P4/S/AAfRzd4nN5ceDg8+Ghamkz5keimexo8ngXuqcu1nfL+kHNn+s3f6fcOAAAAMJvWx/KAz84J1b0zigP3g+Ueu6y0zWEk7iSt7pTfd8p3Q45fgXvG9WKnnKpwzkwpmr7tlK+i+6YTAAAAADPg7lge6LloQnWv6JTjUS1wf4ldVtrLQ9rxCs1T63F8byyfi0HgniZsjO6bNKOUCzUfAAAAwGx4M84NLH4y4fofjvJB+8/trkpeH9KWJvitxx2Rn2Nc4B4AAAAAqCwFEVMahf7A4tMTXof1GeuQV56yyyoZNuL+Js0zlls65dPoBu0f6JTLe/9+Q3TTkgjcAwAAAAAjycoxv2UK63EwygXub7bLKtmV046fapqxPTDktzLsLRKBewAAAABgqEOxfBLD1VNYj41RHLQ/Gd1c4lTzykA7ft0pV2qWRm0NgXsAAAAAYARpksLBFDVfTHF9Po7hgfuDdtnI0oORNPo+TU55nuZo3M0hcA8AAAAAjCCl+hgMKr4yxfW5O4YH7nfZZcyITSFwDwAAAABUtCq6KVMGg4r7prxOJyI/4HmR3caMELgHAAAAACrbG9lBxRemvF5P5KzXh3YZM0TgHgAAAACo5PLoTvSaFVQ8POV1uyxnvR6x25ghAvcAAAAAQGmXdsrRGJ5L/tYpr+ObGet0vV3HDBG4BwAAAAAKpfzwaTLaH2J40H6pPNcp101pXTcPrMsJu48ZI3APAAAAAOQ60CmfRblgfVY51Snvd8rBTrlhguv9Rd86HLQbmTEC9wAAAABArhR4/0dN5fYJrveevnp32I1jW9spWzplo6aYCIF7AAAAAGDupOBmSuuTJtE9X3OUtiK6KY62d8qTnfJKp3wbZ4PGD2iiiRC4BwAAAABYUHs75aVOeTu6cwEUvTVhkt/JELgHAAAAAFhQKXCf5jF4uVMOd8rpyA8Y/6C5JkbgHgAAAACAH63rlC8jO2Bc9yS/u6K++RMmUSYZMBe4BwAAAADgf6W89lkB47tqrkfgPp/APQAAAAAA/+vjyA4YX1pzPQL3+QTuAQAAAAD40XmRHSz+soG6BO7zCdwDAAAAAPCjbZEdLH6hgboE7vMJ3AMAAAAA8KMUoM8KFm/TNBMlcA8AAAAAwI+OxfJA8ZlOWatpJkrgHgAAAACAuDqyA8XvaZqJE7gHAAAAACAeiOxA8aOaZuIE7gEAAAAAiMORHSjepGkmTuAeAAAAAGDBpWBwymU/GCQ+3SkrNM/ECdwDAAAAACy47ZEdJH5N00yFwD0AAAAAwIJ7MbKDxPdpmqkQuAcAAAAAWHDHIztIfKWmmQqBewAAAACABXZtZAeIj2uaqRG4BwAAAABYYA9FdoD4QMP17or84HQbyyQD5gL3AAAAAAAL7P3IDhDvaLhegft8AvcAAAAAAAvq/MgPEF/UcN0C9/kE7gEAAAAAFtT2yA4OfzKBugXu8wncAwAAAAAsqIORHRx+agJ1C9znE7gHAAAAAFhQxyM7OLxF00yVwD0AAAAAwALaENmB4dOdsjLj8xd0yhM5f6NeAvcAAAAAAAvozsgODB/O+Xz6949D4H4SbgmBewAAAACAhXMgsgPD92d8NuW8P9UpV2q2idgaAvcAAAAAAAvnvcgODF818LndvX+/W5NNzCORH7i/SfMAAAAAAMynk5EdGO63lE7noOaamFWd8lXkB+4f1UQAAAAAAPMpLzCcRtyfH930OOn/v9spqzXXRKR2fmnIvkklpSy6RVMBAAAAAMyfYaO6l0pKp3O+pmpEGlm/sVNu7pTt0X1QcrzEPlkqb0d3PoIt0U2fc5UmBQAAAACYbb+P4YHh58JI+ybdEuWD9GXLOs0KAAAAADDb9nTKJ9FNv5Jy3n8W3YC90dsAAADAzPr/HpsjO8YaQCwAAAIndEVYdE1hdGhNTAA8bWF0aCB4bWxucz0iaHR0cDovL3d3dy53My5vcmcvMTk5OC9NYXRoL01hdGhNTCI+PG1zdHlsZSBtYXRoc2l6ZT0iMTZweCI+PG1pPk08L21pPjxtaT5TPC9taT48bWk+RTwvbWk+PG1vPj08L21vPjxtZnJhYz48bW4+MTwvbW4+PG1pPk48L21pPjwvbWZyYWM+PG11bmRlcm92ZXI+PG1vPiYjeDIyMTE7PC9tbz48bXJvdz48bWk+aTwvbWk+PG1vPj08L21vPjxtbj4xPC9tbj48L21yb3c+PG1pPk48L21pPjwvbXVuZGVyb3Zlcj48bW8+fDwvbW8+PG1vPnw8L21vPjxtc3ViPjxtaT5wPC9taT48bXJvdz48bWk+cDwvbWk+PG1pPnI8L21pPjxtaT5lPC9taT48bWk+ZDwvbWk+PC9tcm93PjwvbXN1Yj48bW8+KDwvbW8+PG1pPmk8L21pPjxtbz4pPC9tbz48bW8+LTwvbW8+PG1zdWI+PG1pPnA8L21pPjxtcm93PjxtaT50PC9taT48bWk+cjwvbWk+PG1pPnU8L21pPjxtaT5lPC9taT48L21yb3c+PC9tc3ViPjxtbz4oPC9tbz48bWk+aTwvbWk+PG1vPik8L21vPjxtbz58PC9tbz48bXN1cD48bW8+fDwvbW8+PG1uPjI8L21uPjwvbXN1cD48L21zdHlsZT48L21hdGg+lOJndwAAAABJRU5ErkJggg==\&quot;,\&quot;slideId\&quot;:262,\&quot;accessibleText\&quot;:\&quot;M S E equals 1 over N sum from i equals 1 to N of vertical line vertical line p subscript p r e d end subscript left parenthesis i right parenthesis minus p subscript t r u e end subscript left parenthesis i right parenthesis vertical line vertical line squared\&quot;,\&quot;imageHeight\&quot;:45.684},{\&quot;mathml\&quot;:\&quot;&lt;math style=\\\&quot;font-family:stix;font-size:16px;\\\&quot; xmlns=\\\&quot;http://www.w3.org/1998/Math/MathML\\\&quot;&gt;&lt;mi&gt;R&lt;/mi&gt;&lt;mi&gt;M&lt;/mi&gt;&lt;mi&gt;S&lt;/mi&gt;&lt;mi&gt;E&lt;/mi&gt;&lt;mo&gt;=&lt;/mo&gt;&lt;msqrt&gt;&lt;mfrac&gt;&lt;mn&gt;1&lt;/mn&gt;&lt;mi&gt;N&lt;/mi&gt;&lt;/mfrac&gt;&lt;munderover&gt;&lt;mo&gt;&amp;#x2211;&lt;/mo&gt;&lt;mrow&gt;&lt;mi&gt;i&lt;/mi&gt;&lt;mo&gt;=&lt;/mo&gt;&lt;mn&gt;1&lt;/mn&gt;&lt;/mrow&gt;&lt;mi&gt;N&lt;/mi&gt;&lt;/munderover&gt;&lt;mo&gt;|&lt;/mo&gt;&lt;mo&gt;|&lt;/mo&gt;&lt;msub&gt;&lt;mi&gt;p&lt;/mi&gt;&lt;mrow&gt;&lt;mi&gt;p&lt;/mi&gt;&lt;mi&gt;r&lt;/mi&gt;&lt;mi&gt;e&lt;/mi&gt;&lt;mi&gt;d&lt;/mi&gt;&lt;/mrow&gt;&lt;/msub&gt;&lt;mo&gt;(&lt;/mo&gt;&lt;mi&gt;i&lt;/mi&gt;&lt;mo&gt;)&lt;/mo&gt;&lt;mo&gt;-&lt;/mo&gt;&lt;msub&gt;&lt;mi&gt;p&lt;/mi&gt;&lt;mrow&gt;&lt;mi&gt;t&lt;/mi&gt;&lt;mi&gt;r&lt;/mi&gt;&lt;mi&gt;u&lt;/mi&gt;&lt;mi&gt;e&lt;/mi&gt;&lt;/mrow&gt;&lt;/msub&gt;&lt;mo&gt;(&lt;/mo&gt;&lt;mi&gt;i&lt;/mi&gt;&lt;mo&gt;)&lt;/mo&gt;&lt;mo&gt;|&lt;/mo&gt;&lt;msup&gt;&lt;mo&gt;|&lt;/mo&gt;&lt;mn&gt;2&lt;/mn&gt;&lt;/msup&gt;&lt;/msqrt&gt;&lt;/math&gt;\&quot;,\&quot;base64Image\&quot;:\&quot;iVBORw0KGgoAAAANSUhEUgAABe0AAAE3CAYAAAA3yGowAAAACXBIWXMAAA7EAAAOxAGVKw4bAAAABGJhU0UAAAC5cpmZtgAAVhhJREFUeNrt3Q/oVFXeOP6DiEhIJG2ktJGEhERI0EZGGxlISERI7KLRExn9CIkICSGXNiokjDZ6oo0kJEQihDZ6oo0MIiQi/MVGGxUZLhERISK0UaJiwfOdszOfx3E+5/6ZmXtn5s68XnDY1s/M/fOec+fced973ycEAGbV2hJthTABAAAAAEC9Frfa/2qapmmapmmapmmapmkT1wCYQSsNgJqmaZqmaZqmaZqmaZL2AEyGtQZATdM0TdM0TdM0TdM0SXsAJsMWA6CmaZqmaZqmaZqmaZqkPQCT4S8GQE3TNE3TNE3TNE3TNEl7ACbD/xgANU3TNE3TNE3TNE3TJO0BmAyfJwaEg8ICAAAAAACjdyTMT9q/LCwAAAAAADBai0P60au/CA0AAAAAAIzWFSGdtN8iNAAAAAAAMFobQjppv15oAAAAAABgtLaFdNJ+hdAAAAAAAMBo7QzppP1CoQEAAAAAgNH6W5ifsD8iLAAAAAAAMHr/DPOT9h8ICwAAAAAAjN6/w/yk/R5hAQAAAACA0Yp161P17B8TGgAAAAAAGK1VIZ203yI0AAAAAAAwWreEdNJ+ndAAAAAAAMBobQ3ppP0KoQEAAAAAgNH6a5ifsD8pLAAAAAAAMHr7wvyk/TfCAgAAAAAAo/ePMD9pf0BYAAAAAABg9I6F+Un73cICAAAAAACjdV5IT0K7TWiYMte02hetdiqjz3e3h4Zc18LQLjFVZl1z7TsfEQAAAADwu5BOIG4QGqbUgla7odU+DtkJ9G8rXN+qVnspYz0/hPYFskt9LAAAAABAtD6kk4m/FxqmXEzevxWyE/e3VLy+gz3LP95qV/gYAAAAAIBu94d0wnKZ0DADzm+1HzOOgXcqXteLPct/RPgBAAAAgF7/HeYnK38WFmbI6yH7bvsqy9a80LXcX1vtAqEHAAAAAHr9T5ifqPynsDBDjobspP0TFa5nX9dy3xR2AAAAACDl8zA/Ufk3YWFGXBWyE/axHWu1hRWt6/uu5d4l9AAAAABAyskwP1H5F2FhRmzr6vc/hHTivooE+6pwdmmc84UeAAAAAOgVJ5tNJSm3Cw0z4r1Onz/dandmHA8HK1hP94TPHwk7AAAAAJCyJqSTlJuFhhkQy978Gs7UmF/Qakcyjokrh1xX92S3jws9AAAAAJCyKaQTlGuEhhmwoavPb+382+MZx8QLQ6wnXgw40bWsa4UeAAAAAEiJZXBSCcoVQsMMeLGrz6/u/NvF4czd993tVKstGXA914ez6+YDAAAAACTtCvOTk3Fi2oVCwww43Onzx3r+/fWQvpi1dcD1PNq1jH3CDgAAAABk2R/mJyY/FxZmwMqQnUi/IaST9l8NuK4PupZxu9ADAAAAAFkOhfmJyb8JCzPg3q4+f2fi71+FdOL+hj7Xc044U24n/u9SoQcAAAAAssRSOL1JyT3CwgzoLoFzUeLvW0M6af9an+u5reu9Hwg7AAAAAJBlWUgnJR8TGqbcglY73envhzNeEyedPZE4PuLd8hf2sa4Xut77iNADAAAAAFnWhHTS/r+Ehil3Y1d/fyHndS9kHCOP9rGuw13vu0boAQAAAIAsm0I6IblGaJhyT3T19w05r1udcYx8F9p36xe5qOs9x4QdAAAAAMizPaQTkkuEhin3SThT6qaov3+QcZzcVmI9d3e9fq+wAwAAAAB5doV0MhKm2YVdff3DEq+/I+M4OVDivfu6Xr9R6AEAAACAPPtDuuwHTLONXf19R4nXxzI4R0M6cX9ZwXt/Cmfu6D9X6AEAAACAPIfC/CTku8LClOu++/3Gku95PKST9s/kvOfqrte9L+wAAAAAQJ7FrXYyzE9C7hIaptyxTl8/HcpNJhtdHNp3y/ceLz+22qKM9zzU9bo/CTsAAAAAkGdVSN85fL/QMMW6735/s8/3vpFxzNyb8fp3ul5zldADAAAAAHnWh3QCcrPQMMUe7urrW/t87w0Zx8wnidcuDO07+ePfjwo7AAAAAFBkS0gnINcJDVPsQFdfXz3A+7/KOG6u7nndzV1/2yPsAAAAAECRnSGdfPyt0DClYu35ubr0xwZcxtaM4+alntc90/W324QeAAAAACiyL8xPPP4c2mU9YBpt6Orr+wZcxpJWO5E4dmIpnPO7Xvdp599/7bwHAAAAACDXwTA/8fgPYWGK7e7q63cMsZwXQvpu+22dv1/Y9W/vCzsAAAAAUMaRMD/puE9YmGJfd/X1i4ZYzuqQTtp/3fn7xq5/e0jYAQAAAIAii0M66bhbaJhSl3X188MVLO+DkD2R88td//8KoQcAAAAAiqwK6YTjn4WGKbWlq5+/UMHy7sg4ht4KZ55iOSLsAAAAAEAZ60M64bhJaPpyU6udKwyN8EZXP99QwfIWtNrRjONorr0k7AAAAABAGd13HXe3K4WmlJis/yxUlwCmXgtb7XTn8/q11c6paLk7Qn7SXt8AAAAAAErZGdJJxiVCkytOQHogSMw2za1dn9eHFS734tC+CJA6luK/LxZ6AAAAAKCMfWF+kvEXYcl0Sau9EtxN3VR7uz6vJyte9hsZ/eI9YQcAAAAAyjoY5icZ/yUs85zfak+HM6VVJO2bZ1GrHa/x87oxo19sE3oAAAAAoKwjYX6Scb+w/J+Y6H2o1X4M+TXLJe0nX+/8DVfUsI6vEv3icqEHAAAAAMqIdbZTyeedQvMfd7fad6E4WS9pP/kWhPkJ9XNrWM/WnnV8K/QAAAAAQFmrQjr5vGXG43Jzq30WyifrJe0n37OJz+uOGtYTJ3A+1bWOl4QeAAAAAChrfUgnn9fPaDyuarX3OzF4u9VuC+3yOAtDuy65pH3zxAtTWRMH/9Bq94bq77h/QZ8AAAAAAAbRW+N7rq2awVhcH9qTzMaE62UZr3knSNo3xbWt9lMo/5REfO2zFa17dWeZsT8t8lEAAAAAAGXF2vWpBObiGYzF8k7Lc0+QtKec+MTGW8IAAAAAAPRjX5ifeD4iLJluCZL2AAAAAADU5GCYn3g+KCyZbg6S9gAAAAAA1CTeVd+beN4nLJkk7QEAAAAAqEWsW59KPO8UmkyS9gAAAAAA1GJVSCeetwhNJkl7AAAAAABqsT6kE8/rhSaTpD0AAAAAALWId9SnEs+rhCaTpD0AAAAAALWItetTiefFQpNJ0h4AAAAAgFrsC/OTzkeEJZekPQAAAAAAtTgY5iedDwpLLkl7AAAAAABqEe+q70067xOWXJL2AAAAAABULtatTyWdHxOaXJL2AAAAAABUblVIJ503CU0uSXsAAAAAACq3PqSTzmuEJpekPQAAAAAAldsS0knnZUKTS9IeAAAAAIDK7QzzE84nhaWQpH1xvzqgjb1td6gCAAAAQLPsC/MTzoeEpZCkfb7fttq/C2Kk1d/2OFQBAAAAoFkOhvmJvv3CUkjSvtj9QdJc0h4AAAAA6MuRMD/Rt0tYCknal/M/QeJc0h4AAAAAKGVxSCf61MEuJmlfzpJW+yZInkvaAwAAAACFVoV0om+T0BSStC/vliB5LmkPAAAAABRaH9KJvjVCU0jSvj9/CRLokvYAAAAAQK4tIZ3oWyY0hSTt+7MwpCc91iTtAQAAAICOnWF+ku+ksJQiad+/Fa327yCRLmkPAAAAACTtC/OTfIeEpRRJ+8H8IVSfmG7iHAy/De2LGGtbbXOr/bnV/idUP2mvpD0AAAAANEiqXMl+YSlF0n5wfw3VJqZ/Du1JladFLE91f6u922q/BEl7AAAAAJgZR8L8JN8uYSlF0n5wi0P1d5T/s7PcabMitBPvgybvJe0BAAAAoCHi3bypJN92oSlF0n44a8Lwd5HP0gWnK1vtgyBpDwAAAABTKyZNp6U++DhI2g9vW6i+vv20x/2xIGkPAAAAAFMpJudTSb41QlOKpH01Dobq69uvnPKY7QiS9gAAAAAwdWIZnFSSb5nQlCJpX42YYP93qDZxHy8ELJ7yuP0tSNoDAAAAwFSJ9b97E3wnhaU0Sfvq/CFUXyZn55THbGGr/StI2gMAAADA1Ngf5if4DglLaZL21doV1Lfv17pQPJmvpD0AAAAANERM0Pcm+PYLS2mS9tU6r9W+C9Um7Y+12m+nPG5FZXIk7QEAAACgIWIpnN4E3y5hKU3SvnpxEuSiO8f7bQdCu5TMtPp9kLQHAAAAgMaLk82mEnzbhaY0Sft6bA/Vl8nZMeUxOxgk7QEAAACg0eIdzakE3yahKU3Svh7xrvh/hOoT99PctzcFSXsAAAAAaLSsJN8aoSlN0r4+K1vt36HapP3PrXbFlMZrYWf/JO0BAAAAoKGySpAsE5rSJO3r9YdQ/d32/2y1JVMar6wJaSXtAQAAAKAB4oSzvcm9k8LSF0n7+u0O1Sfu/3tKY3VLkLQHAAAAgMbaH+Yn9w4JS18k7eu3uNMv1bcvdl6r/RIk7QEAAACgkVKJ0P3C0hdJ+9FYFbLrtQ/aYr38FVMYq4NB0h4AAAAAGimWwulN7u0Slr5I2o/O9lD93fb/CO0JXKfJziBpDwAAAACNsyKkk5jbhaYvG4Ok/Si9G6pP3O+cshitDZL2AAAAANA468Ps1Pmu0+MhPyG8UYgqtazVjoTqE/e3TFGMloT5de0l7QEAAABgwm0J6eTlGqHpy6chPxn8khBVblOoPml/rNV+O0Ux+keQtAcAAKjbRa12X6u92mpft9qJVvu11U612o+t9larPdlq1woVAGWk6l7HtkxoSrs9FCeDj3cGcaq1J1SfuI+ld6alvv3LQdIeAACgLpe02iuhnaAv+5sz3vR3i9ABkGdfYgA5KSyl3RXaV9DLDMxftNoqIavU4lY7FKpP3O+Ykvj8OUjaAwAA1CHewHd8iN+dezu/aQFgnoOJgeOQsMwT64Nf02o3hXZ9+mdD+5G3Qe/k/lNoT04bl3dtZ/kM5opW+zlUn7hfOwWxWdlqm7va73UXAACAod1f0e/O94LEPQAJqck89wvLPHtD9Unh7rZPiIeytYbPJB4bvxFaAAAAutxc8W/PV4QUgG6LMwaMXUJDw8Qa9AeD+vYAAADUZ3mr/dD1mzFONPt8aNeoP7frdYta7bpW29ZqX5b47blRaAGYsypjsNguNDRQnDz536H6xL3jAQAAgOiVrt+KB0I7iV9GnA/vh5zfnYeFFoA56zMGi01CQ0PdEqpP2v8SpqO+PQAAAINbHc6uRb+oz/fH+djyEvc3CTEA0ZaMgWKN0NBge4L69gAAANTzW/P7Vjt/wGXclPO78wUhBiDamTFQLBMaGmxJq/0rVJ+4jxM0q28PAAAwe+KcgKc7vw1vG3JZb2f85nxHmAGI9iUGiZPCwhT4XacvV5243yq0I7ck47N4vaHrAQAA6j0Hr2O5GzvLOFjBfmeVdf1BlwAgdAab3kHikLAwJbaGeurb/15op+JEflzrAdKuDO072GbFVTO2vwDGCePEKM/B61juXGmcGyrY7wWt9mti+35yqAMQHQnpEiAwLd4N1Sfuvwnq20/Dify41gPMP/ae7Rxvj87IPl/W+VEex5N1ugCAcWKGx4kmJe2/bLVPKtz3bxPb971DHoDFGYPYLqFhiqxotZ9D9Yn73ULb+BP5ca0HOOP6TkJi7kfqFTP0vfZa1/fM88Fd9wDGidkcJ5pWHqfKiyhvJbbvjUn4UDbW8AN6rsVJAU6Edh2g90O7ZvOOVru11c6peb/WDbntb03IQXP1EPtQ1Y/ba1rtkc4X1Zedz/R0px1vtcOddT3VajeH9qMlRZ7obOOrfW7LTzX216rbqwHKWZPRh7YIDVPmD6Fd1qbq79sNQtvoE/lxrQc4+7w8ti9abXlDtvuSzvdC/G3yY6s912pLB1zWjp4YrNQtAIwTMzZONClpX7VU0v6ZSdiwazsbN+pkaKwXdKDV7g31XKW6PLQvEsTZfo8PsH3HJuCziXH5asD4ftZq24ZY9/mt9nirfTfAuuOX4ZOh/RhRSvckD/1u48OttrfTZ0+EyU7aP2xsp6RNGX1ovdAwhXbV8H0bx+zfCm1jT+SbeGIP0+DC0L6xau4Y+6jzG6AJLm61o4nviS+GSMjcE86efM55GGCcME7M0jgxy0n7jxPbd/OkfUDx4Lur1b4Oo01uxh/bD7Xawhr3bVVo19wqe3Hi1wn4PJ7rM47xc9syxBfQnJhIP17RZxsvHrzUan8K7UT+2xUfBHEClN1hMpP2txjjKWl7Rh9aJTRMoTjWf17Dd26czFlJg2aeyDfxxB6aLk6q933Pd+jSBm3/qznjwZ4hlvvHnmXdo6sAxgnjxIyME7OctO/NFceLMgsm+YP6rI8fyvFu9g2d981ZFNqlXe4M7bIqp0ssJ5ZeWV3zvsW7v8smpMf5hdRveZ+YDB+25FC8ivpByC93FL/4bg/tJxkW9nzeqzt/e6Xk5/2/nfdV4amS64sHYrxAdE2J5M6iTkwv7Hwet3b68wut9l6JfTzXOE9JWXceS0AyrdaGesrk7BTaRp7IN/HEHprspp4fp581LBETf4P8GvJvvhpmf3oTMg/pMoBxwjgxA+PErCbtU9v39KR/WH8s+QP5yZLLizWvXiyxvFjypO5HTN4ouW/jmhk6fnn0U5YmXv0cNkEcHx36JuRfieynbtkFofgO+MMVxqzsRY4qr4LGpP6WjM/qiHGePuzXh5hBfw71POWkvn3zTuSbdmIPTbahJ5ERz/8vbNg+XBPqf+L1nqDsJWCcME7M1jgxq0n7DWH+RZ1LJv3DOr9EJx/kcYE/hvwrXrGdarXraty3j0r+8L9tTLF/pc8ExbYh1xcvEuSVRBpmMswtOct9pcKY3RjKTYxcRwmmpYk+9Zqxnj4cCulSHzDt3g3q2zuRb96JPTTVbYnfck0sxbcqjKZM5ZM9y7xfFwKME8aJKR4nZjVp33uD+fNN+LDKJEH3Dbjsu8No7h5PKXpMZtwHXNknHLqvAF0w5Dpfy1n+jgr26emMZT9QYdxuKRGrt2r83C7rWdcjxnv6cLLC71dokt+E9lMlVSfuD4R658mZVZL20Fw3h+mZ8D7eNJY3T1m8UaeqMg7v9Cz7Vl0JME4YJ6Z0nJjFpH3sK8fC2ReqGjHZ8sYSP4pvH2L5b4fqSu/0Y30fP/p3jzjmF/Z0lrKJiWHkJbu/rSjpEetyf59Y/k0Vxu7OErHaWvPn1323vUloKWtZUJub2RbH5Trq2+8Q2sacyDfpxB6aKM4zdmLKviOfzPn+f6rC9cQf7t0Xl+PcaKt1KcA4YZyYwnFiFpP2vbnEu5vyYb1Q4gfxMFcfrgvl6tsvqni/nunjB/+rI475W2F+0rxoG4ed8OKTnGVXWZPrkTD/CYEq74LcUyJWl9f8+XWXNWrSJC2M15pQfVkqaJqiOVAGbeuEthEn8k06sYemWR7mP9H00RTsV/wdkXpauI6brnpv+vrauT5gnDBOTOE4MYtJ+y/CaKpzVO6zgh/Cn1SwjjKPxFddV/6rcHbt/Lx1fzjCeN8b5ifsny8RnyuGWOfqgmVfW+H+9ZaP+aLi+B0s2JdvR/AZ7u2s66hxnz5syuiz64WGGRJP5A6F6pP28TxjmfBO/Il8k07soUkWdH7P9JYEuGyK9vGq0L4rLrY66y73zjmmjCFgnDBOTNs4MWtJ++487HehIWVxonPDaB47f7XEep6rcL9Whvnld/LW/dOI4n1pmF9vK84p8HHB9g2bHH68YPlVP+XwXdeyX65wueeE4nkKXhrB5/hyMAkt/due0WdXCQ0z5sqQnt9h2LY/qG8/6SfyTTmxh6bZkTiOHheWgVwU5t/wdYewAMYJpmicmKWkfZwbdK48eazyclWTPqgy9exvqGA9ZUrwVJkAvb9n2fFDKUr2LhhBvD8I82cqvqBEbPYMud43C5ZftddDPaU/bisRqw0j+BznLkI9aryiD7sy+uxioWEGbQ71lMl5TGgn+kS+CSf20DRXhfTTR0uEZmBP9cTzh85vNgDjBNMwTsxS0v6NMNp8YaX2Ffz4jRMrVJHM3lHih/YbFe5Xd5L6WOfffixY/6U1x/qhnvUdDu1kXZkLJ8OWDvohjDZp312z+Pqalptqv4bRJEDn+leTZwtn9PZnnCyBY6LatkZoJ/ZEvgkn9tAk8XfaF4ljaJvQDGV5mH/D18vCAhgnmJJxYlaS9vd1bcMDTexoRwt++FZVm6lMzfaq7rSPj8af7lru3s6/v12w/ptrjPMVPdvUXUe+6MJJ/CI4d8j1F9X0r7o8zj1d217lEwzfF+zHgREdN092+qs7buhHqo73QWFhhq0I5ea86bfFEm3nCW8jTrgl7WE4D4b0TVee4hveK4nYXiUsgHGCKRgnZiFpf104k4dtZJWMq0r88L2zonXtLbGuqmZ2vrVnuRs7/16UHN9YU5xj0rp3st+nu/5edOHk/Qq2oag00E0V7/PtneV+WuEyV5XoQw8ZN5hgqRreJjdj1m0I9dxt//egvn0TTrgl7WG44yf1NO3zQlOJm4KbLQDjBNM5Tkx70v6ScCbX+nRTO9jDJX70Lq9oXQdKrKuqpPmL4ey71Jd2/r3obv9Haopz7yS4X4Yzd7ZfXSIuVWzXiYJ1PFvxPv8xnP2UQxW2loiVu1+YVMsy+uxOoYH/HAd1JO499jv5J9yS9jC4xzOOn+uFphLxxqufEvFdLzSAcYKGjxPTnLSPFTG+7qz3hSZ3sKJEelV3SccE9elQXAKmqgsE34T0Va67CrZhbw0xvjaxn92J5TIXTq6pYDu+LVjHiQrjH83dOXlPhct8p2AfjhkzmGBrM/rtZqGB/9wR/3moPmn/S6v9Vngn+oRb0h4Gc05GouCo0FQq9aS2u+0B4wRNHyemNWkfb9r+NEzBXDTxAC4qmfJUReu6u8QP63cqWldvCZUdXX8regT/9Rpi/HXPOh7veU3RhZOqEtGvlfgM3qxw3xd0Pouqar73zlNQ10WXOEmFyWWpw5ZgwkzIc2VIl5Aappk0cPJPuCXtYTBbw+huQppldwR3qQLGCaZvnJjGpH1c98Fp+S1xW4kfu+sqWtdnJdZ1XUXr6p1k49quv11XsA1fVBzjF8P8Jxe6J2Utc+GkqnrXW0KzSwncGuovr3RJqP7iBczJKv+xTGjg/2wP1SXs/xlMRtuEE+5xnNjHc7HLQ/tmjq2dH6/x5pGfOj+88sRz41huMc43FCdxizcUnArtCZXjDRLx4v/5ug8j8EUY7Rxdk+TCEa7r4ow4v6ELYozBOGGcaPA4MW1J+8Wd7864rrfDFMxt9lIoLpeyoIL1lEkWV9mZ3wtnz4jd+yHmbcepCrdjfc+yT3cG725lLpzcXtH2LA3Fd6rPtVsmsL8WzUfQPXfBoJ7pLOte4zs1SD02d1JYYJ79YfiEffxxqyxOM06461xP/MF2c6vd2Wq7O8v8NuTfMHFtRgLm/lBcarD7HPrRis6jIeWanP536RTtZyyxemNolziNv10PdH6vnR7xj/Ejod7SrjSTMQbjhHGiyePENCXt42c9V0479oHF09C5vw/1l4q5KhRPgHo0VHcVbHHPIJm6S/1UwfYsqmA7liYO2j8lXrc7FCeiq7yS/kwfJwKT9ijP4YJtHrZm2PJw5qLGRcZ4anAw0W8PCQvMsyzjxLefZpLAyT2RH9V69gzQb37IOJf9csB+eKCzf1C1Z3PO4ZskJh3P6SRc4l3Jd4czyc9jOcfWuyPezqwyow/pijPLGINxwjjR9HFiWpL2sY+8Ec7kBav4Xhx7TnBViUFgy5DriAPQ0VCcHL6uwv3qvXM9NQnqNwXbdGUF2/FqzzI/ynhd0dX0qievWFriM5lr8fG9aybky+SyEtu7Y8h1vNBZzifGd2qSSkLuFxZI2hQGT9j/t/BN9In8qNZzbec8MLY4n9Bbof+ShPeVeE9Re0tXogbfhXrnCBuVvQMeV6Mu5/lExnZ8qivOLGMMxgnjRNPHiWlJ2r/aFeulFSwv5stjrnqsifsHS3Tyi4dYfhy8jhcsP/79por3q7fkTyrIb4Z6S8P0TkIR7+y/LKMj1J2ITlkf+rsb4KoJ+DIpU2Lp2iGWf1XInih4lN4K1U7AOO62KDAnqzTXLqGBTDsH+N6Jd9UsFLqJPpEf54l9PFfIKxXYXZLw6Z5zuRc754hzj9vOPY79eol+qeweVVqd09deati+xBuEYm3lWF7k/s72Hy5xTF054u3cmLMtK3VJjDEYJ4wTDRwnpiFp/3Jn2V+12gUVLC9+98bk/9gviL5T0MEPD7jcWFLlYIkD6JuaDqLuO1mzJpUtulJ35xDrjyVWfuhZ3gMZr30g1JuIzrMjNCtx/0YovgA0qHhgf921rHE+XSBpP72yLtJtFxrIFH+4/iv0V8fexM6TfyI/zhP7vLG2e26c57r+fXeJHwFPFPTNeLeb2sNUJe83xP1TsH8LOj+Y80qrjtoNOdvzgC6JMQbjhHGigeNE05P2c9UyYgWTKuYOiDd+zeUexzrPZ9yQoglJn+1jefEqXqzT9FnJH9XPh3pqr11Vch+KEtZPD7EN7/Ys6/2c1xbd8X+85n7waugvcX/NBPfXfQMuO04M/NWYv9zLnORJ2jdf1hMum4QGMsWJZI/18Z3zeyFrxIn8uNYz572M9X3Y+fvDXec+t/ax3K+CeRYYjbxz+A1Tso/7cvZx7xi2Z3Godx44pocxBuOEcaIp40STk/Zz83XGuVovHnJZcY7VePP23IWg78b9wdxa4ofvJ52D4KnQnoX5zk6L//1k5yCId+ufCOV+SMeka7yKfFmN+/VwzzqzSu/cUbCtLw+4/vvD/KT7JRmvrTMRXdainJOKrMT9tWPor2XK+ZR5OqJ7ApPYj+MVtN4aguN+VEzSfnpllXhaIzSQeeL7jz6+b7YKWWNO5Me1njmnMtb3eOeH7NwPgMv7XG5R6cnndSkq8n1OP1s3Jfv4bs4+bhzTNmX9djuhS2KMwThhnGjgONHUpP3jod481qPj/mCeD6NJ2MUOG+8mj7M7nzuC/Xq/Z91Zj4jdUrDdbw6w7pVh/gWMe3JeXyYRfceIDtIP+/hM4+S01424vz4TRpdkHvdVZ0n76ZVVm1spD0j77z6+a/5HuBp1Ij+u9URXFpx3/RjaT3cMcpPJdQX99IAuRQUWFfSzpVOwjwtC/s1N549pu/Ke/Fqta2KMwThhnGjYONHEpP1Dod4cVryx9+JxfzCHQ31J+nj3fay5FpPSo5wI7txw9l3TeYn3oglgjwyw/o9CfzNyl0lELx9R7OKX9sEwuYn7L8PoLjKNO8ksaT+9Uo/vnRQWSPpDq/1S8nvmUKv9RsgadSI/rvVE94Xspwk/6pxL3jjgsheXOH+CYd1U0M+moa719SH/afBxeTtM3l2dTBZjDMYJ40STxommJe3vC/XnsMY+Ae3KEhsZa77Hu+NjYnlPaNfDerMzEOS977kx7lfvTM335bx2YShO3vbj4cSgfFHBe4oS0Z+OOH5Lw/wLD0UnBVePYLsuCqNLML8VoD6pC2OHJnh7/1cbeaPtd632c8mY/dJ5Pc06kR/XeqLXQvZdNfF/H6nxu/OULkUNv3mmsY/lzT/2xBi367VQzXxwTC9jDMYJ40STxokmJe3vGdFv8lvG/aFsCcUJ66wrb8+G4prnC8e0X713sa4qeH1RLf5zSq53dZhfF72ovvryEh3lyTHEMM5a389d7UdLxHlYZQ7MMiVtYr+8uHMAxpOlLxLL2WJ8p0ZHEn1u/wRvryS6pP04xHJR3/URsz8IWSNP5Me1nnh+ezynP30Zhr/7rMqbQiDlkZw+9uOU7OMnOft44xi365UwvrnImHzGGIwTxommjRNNSdoXlXyqqn03CR/KG2Hwu42vLLGTd4xpv37o2oavS7z+44L9WFey4/Qmud8o8b4yiehxTQ4SLyh822envqDG7XmtxMnJoBeKei/0XBygHlmPs+6a4G2WRJe0H4f9fcRrt3A19kR+XOu5PtQ/r03e8k1WSRX25PSxY1Owf8sLjqFxlnV4KWfbDuqaM88Yg3HCONG0caKpE9FOraLJGmLbWrCMTwve/94Y9uuanm14ocR7Xq9gUH06zL/zvEwCe1+JAXecXzQxef19H4mTWFZnUU39teiJiGFK2nRPSPyprwdqlDWPxvYJ3mZJdEn7UdveR6wOdE4GaeaJ/LjWk3fn2VcVLL+o3vBRXYoKvBom/A6xIeXd3DTuH/svhum/exVjDMYJ48TsjBOS9hNmXYkfwpcXLOOBEsu4ZMT79WjoP+H+UsE+3Fvw/tSV9NtKrLfosblJeWzmss7AXzaB8mIN23BjifXeV9Hyn/D1QI3WZ/TfTRO8zZLokvajPj8pO/Hsv1ttha+VRp/Ij2s97+X0qwcrWH7RvFFv6lJUIO+p6XemYP/ynrIddynL50PzS5NsnILzpb0TGltjDMYJ40TTxglJ+wnzTBi+fs/SUHy3/uMj3q+Pew6EMnd9PxgGf+w+dsDeEjKvlNzWosfmylwwGJVYr/+HPk6gbq54/U+UWOelQyy/O2l/ra8HapQ1l8iaCd5mSXRJ+1E5L5SvY//LhB8302aakvaxlN6vIXuCwCpK/d1c0H9f0qWowFuhnidQJ0HRU+GXjHn7dkzBOC5pXw9jDMYJ40QTxwlJ+wnzWUEH2lNyOUXlXUb5yM2FYbDyPEUnLHl3u/fepR9LyZxfcr2PlzgRmaTa6rH00E8lT6C+Ce3H9qryScH6hn3McO7E55ivBmq2M6MPLxMa6KuO/Q7hmooT+XGsJy/Z8XZF67i7oP/erkshGZMr76nwrydg++4rOMYXNiDGkvb1MMZgnDBONHGckLSfIMtLDIC3VXCgjHoi1dt71rut5PvWh+J6uSm3Jl67vo/t/ahgvV9MYN+5KWTfOdDb/lTROi8ssa5nhlzHnWGyH7FkeqQudJ4UFgiP9fEj/X8akhCZJtOUtM972vSuitaxp6APr9SlkIzJ9WzOvr0wAdtXlIxZ1IAYS9rXwxiDccI40cRxQtJ+gtxT0HliUvbcPpZX9Cj7qyPar95k2BUl31eUFP4p8Z74WFtvnfc9fWzruSVOQp6d0P6zpeRJVIxPFZPo3h7qvzA098TEBl8P1Oxgov8eEhZmXLzgXbaO/b9a7TdCNjUn8uNYz6chu75oVZMa5z3R+rXuREXeDNNbq/hwzr5Nwvl6UTJmQQNiLGlfD2MMxgnjRBPHCUn7CfJaQef5sM/lFdVqigPU+TXvU+zw3aVbjvb53ry7x39NHFC9MYx17fu50FHmJOmmCe5De0ueSN1awbqKSjCdqOAL7/bOl8ZiXw/U7EiiD+8XFmbYyozjIquO/Sohm6oT+VGvZ2mo/46zoptBntadGMFvuiYn7i4r+F05CXcnFpU5bQJJ++oZYzBOGCeaOk5I2k+ImNw8HqqdPPaSEgPq1pr364YhB/CiWu3Lu157V+LvN/a5vqJE9Okw2XdopCbgTbUXK+ivRZ/NPoc1DbE4ow/vEhpmVBxLPu/jx/n9QjZ1J/KjXk9ekuruitZRVGv4St2Jiryc08+aPE/T1pz9em9CtvH5kH9DEbPJGINxwjjR1HFC0n5C3FDiR/G1Ayz3vYJlflbzfj3Rs76Nfb7/3YLtn6tVHyeG7U0iPz/A9h4tWN+bQ8YjJrvvbbXraoz5bSX60vtDruO6Euu402FNQ6zK6MPbhQY/JArbX4VrKk/kR72erDrA8anKqp4KfTunHx/UlahQXu3snxq8X+/k7NdDE7KNL+Zs4w+65swyxmCcME40dZyQtJ8QT4TiUiODuKvED+6ra9yvT3sGxaV9vr/ozve5iwAHev491tHqt6TKlSVitWXIeKwO/dfZH8RXBfvx45DLf7xErC6Y0mP1rdD8R1abNiFX3bImvd4kNMygzX18fxwMypdN64n8qNfzTajnJoM5F4X8kotuNKBKd+b0tVMN3ac4yfjpnP26akK286WcbTyga84sYwzGCeNEU8cJSfsJ8XGop9RIPHCKyu48X9M+LQ/D1eSPdhds+7aQfgRnkKcStpVIUFw2ZEzm7oLfXXN/erhgP4YdCD4qWP4nU3ysStpPn6xJnNcIDTMmXrw+WfK74+dWWyFkU3siP8r1rAz135X1aM46DutGVOzm0PzJUHttCM0o5fBKULoTYwzGCePE9IwTkvYToGjSktjuHWL5zxcsOyb160jc3ROGq8kfFdWGi3f5ner5tycH3N6iUkJVTAgyl0yvO2l/fSiuzT+opSX66xNjPJ62dva/LpL2w5u0O3N3ZsRmmeGJGXJeqx0K5See3SBkU30iP8r13JPT1y6vYPlxnMsrf/hH3YiKXVDwHXpuA/cp70aqVyZoO1/P2c5ndM2ZZIzBOGGcaPI4IWk/AW4v8QP54iGWf3WJ5d9dw371zog9yN3vG0J/CcgvQ/vpgn7F9/wa6n8iYd+IvrQWhXrKLUUbS3wON4zpWLo1VPuoY4qk/fAmrQZ2qgzXSUMTM+ZvfXxvPCZcU38iP8r1ZJVC/L6ibX8wpy9/oAtRkxM5/W5dA/fnSM7+3D5B25lXV3yjbjmTjDEYJ4wTTR4nJO0neCCZa19VsI7PCtZRde2m+DhPdz2r4wMup8wEvd018wetk1Xm4sAtFcTlYGdZ746gX+Xtyxc19tcTYTyPc8VHH38I9V2EmiNpP5x4HMWE+CTdbX8wEZdDhiZmyJY+vjNicn+hkE39ifwo1/NTxrL3VrDs+HTgsZD91OHluhA1eSPne7RpTyqtLhgXzp+gbf0hZzuv1C1nkjEG44RxosnjhKT9BPixoIM/V8E6tpb4Ib6ywn3qrdE1aG2oc/pIJDw6xPa+GIrLyVSRpJgr5XNiBP0qb39eHWK5RwuW/fqYvsi+CGdmW68zES1pP5x/huouglUldVfAfkMTM+L3oXwd+ziR23lCNhMn8qNaT97ToFXc7fRcqL+WMaTkzS91b8P2Je9O4kmbxyrryen4G2yBbjlzjDEYJ4wTTR8nJO3H7Jowmju8LwjF5V+qrEPemwQfZsb00yVi9OmQB9jXBct/u4KYnN+zzKtr7FdF5XG21nDiM9e2jOE46n7E6XlfKxNrc5i88hqLM/rxLh8XM+C3If9R1t6JZ38nZDNzIj+q9WzL6XMX1JisOaDrULO8+aV2N2xf8koJPDlB23luzna+o0vOJGMMxgnjRNPHCUn7MXs0jOYO7+iNgnXFum5VXFlakEgCXDLE8r4rEaNhHj27rESyYmsFcel9+mBHjf1qfcH+XDbgch8uEavVIz6GXupZ/1W+ViZ2sOn+Xnh3QrZrVUY/3u4jY8ot7PyoLPtUzmYhm6kT+VGtJ+tH3uEhlxuf1PwqY9nfhsl6TJvpFH8PZT1N/UbD9iPvBqq8ussxYXrRCLc17/fPNl1yJhljME4YJ5o+Tkjaj9kHYXS15osSubHdXMF61vUs86chl/dmwTYP++jZAyXisqqCuNzZs8zvQn2P3+RdDDo4xHKLEjzHR3z87OlZ/2e+UibW9jCZE71mfS9u8pEx5f47lE/Y7xauidXkpP3CnB95w9Ya3pux3FjHVI1hRiWrH/7UoH3IuxM0bx6r28Po77C8M2dbHfezxxiDccI4MQ3jhKT9GF1Y4ofysxWuLx4sRXetv1PDF8+wpWVeDvUkoOe8XxCT7yqK/+7Esh+oqW8dztmfPw64zPgoUVGJpddHeOwcGGE8Gc6y0C6t0ft5XTEB25Y1AecaHxtTLF6U+iWUS9h/3jmpY7ZO5EexnnU5/e6uGr7Xj3d+WMKo5N0wdUFD9iFvXrSsObKu6iRqvgztMoSj8nyo565qmskYg3HCODEN44Sk/YR27rl2e8XrfCLUe1d5TKb2XtEe9kr2UyH7qt2wk+eWKY2zr6LYp8oTHavhy/i2UM8kIHeUiNXTNR8z8cJTTMynZvyO/e5cXysTaU+Y3HIbOzO2bZmPjSm1otX+Hcol7I91Xs/snciPYj1556TXVfzjN96xdoPuQp/iHFHrOufAsRxjfEL6hT7PW49m9MnbGhKDfTnHaWrOsuWhXQ4x3ugz6pKZ72Rs56O68kwyxtAExgnjxLjO9SXtS/iqxA/mqg/UlSXW+eoQy386sbw9Q25z1iMsVdxVvbdEPF6oKPZZX8ZvV/j5xgsAWU9TxC/FK2r4ghvFJCNxvx4K+U+KvOIrZSJdGeq/IFb1ScZJHxtTKt7JcjCUL4vzhxmLz9qu9vuGbHOTk/Z5fXGQ+ZxicvVEYlnx/Mt8NxSJT6Lu7vwO+jC0k3BVnLs8mbGc5xoSl09yjtNLEufrX3T+9uCItzMmvk6V3E5mgzGGpjBOGCfGca4vaV/gvpI/mO+rYd0flFjvugGWG2tApcqnfDTk9t6SWOb7FcTh5pKfwcsVrGthwTqqSDgvDvmlfu4ZYtmXl4zVt6G6JwcubbV7Q/uixq8l1u3uhsn0/4f8shuTeEJ/yMfGlNoTyifsZ20y5t6bGg42ZLubmrRfkjO2nxpgebdl/BCL56DLHfqU8ECnP8fzzp9yvhvv7XO5l2QspynzMJ3IiUW3eJx92fn318awnddmbONbuvZMMsbQJMYJ48Q4zvUl7XPcVNCxu9unYbArwXnuLrHeeMX40j6WGcvifJ2zvLuH2N4rwvzHz4a9EnZraNedK/MZHK9gfdeUWE/8kTDoTPMx/h/mLHvHkAfzx30kemLpmni1OF5suSij/8arnIs7cV3X+TziExXPdb4kjvWxvti+8bUykW4p8dmNuwzNkcQ27ffRMYU29/Gdur+Gc4+mxWdPQ7a7qUn7vFJ+MdGytORyYj99NmSX7Fvg0GdAWXNqDVJG9NWMZV3UgDjk3TizrnOM3R3OPFEcf7ueM4btfDRjG9UYn03GGJrGOGGcGPW5vqR9QjzJez70l4yc69QbK/wBHeszlrloEA+qOwqWNXcAHimxvPgD+OoBt7eKO8bjcuKjr+8N8BnEWMTHdwa9kr6xj/Xc38cJQOwT8c6gvCT3wwNuc1x2nKTn8ADxGnV7xDg/ceJFmUMlPrtbxryNqW3a5eNjCs8/ytaxjxdBz5vBGPUm6LY0ZLubmrR/MQxfmnBDSJeajI9dX+uwZ0h3JfrWkQGXtTqjn29tQBx+6ON8PB6PF45pO1M3GB3UjWeWMYamMU4YJ0Z9ri9p3xGTQvGq2fdh+MTkr51BYl8YbrLYaHfoL2EdH195rudENtY4Pz3AfsQ71+OkrNv62N65x9He6XM/r+jE68tQrsRK2Xi8Gdolbcr+qH+8z3XEHwXxAk+8S6D7QkFM5l/W+fd4snGsYDtv7jNeCzqf87sDfrbjaPFzvSgwae4v+fntGOM2rgrKgjD94tMs35Q8HuN8DmtmNE694+nahmx3U5P2ZW4IiOeK14czNzLEmy/i06qPZiRSYj+/J7jzkWpsC9WWs3wjVF9CdBTKzP/1v51kyLjKhGTN2XadbjyzjDE0kXHCODHKc31J+4JADNvWDbld1w6wzmNd799dwT70UzsqPm0Qr+D1e1Xu5lBvwrjs4/Nzk13GRPrdnZOCKNZ/j3fhxws7VSXJYxI7Psa3dIB+sSg0I1GvVuVk+03InzS4u707xu1cn7FNm3yETJH9fXyf/teMxih1AW9ZQ7a9iUn75QVjwt7Q3znPu51zKYkUqpQqVXDnEMvLmvtrdQO+H38qOAbjDT+Lx7iNO0I6IctsMsbQVMYJ48Qoz/Ul7aHLx50vqytyXjNXvicm+MvW2+9u8WmOJ4K7zhm/v4TBLgaO2paMbVrjI2RKPNbHsTjLZaH+HKopgTEOsZTdPYm2boLXc1dOP7yr85o4r9KjnWRJ/CF4qtN+6Pzbi51zpqUOc2qSepr14iGX+VximS81IBbxKd+9neMvHoexzOrBzu+OS8e8bYsTn9Vxv4dmmjGGJjNOGCdGda4/qt8Q0AgxEf9Qn++JT0M82Hnvp50vlrkTih87/7av85prhJgJEa+0/xz6u+C0ckzbujNM5uS4UIW1rfZLyWMwzj+xZIZj9XlPPA7oPrWfE2X1xVXCwwS4MqRLYwwrJgCPhvl3IF4q5AN7KPFZPSgsxhhjDA1lnDBOAEBt/pZxkvxlmLySHKmT+pM+QqZAvPBUZoL4uT5/xQzH6veJmOzUhWp1NEzek1fQLVXPfm9Fy/5jYtn7hHwg54f5EyC66Iox5mwx2RvLgFygazSGccI4AQCVi49Spe7sjUnBP4XspOFfx7S9B0P6jmNoOnXsy/trIiabdaHarM7pi36QMineTvTPjRUu/5XE8q8X9r71zrEWk7UXCosxxhjzf2L53U9Ce+68hbpHoxgnjBMAUKl/ZJwkbw/piR7n2j/HtL2pO5H3+xhpuJ1BHfuy4hMJqXJe5rWozwM5/fFe4WECxMkmTyf65/kVruPc0C630738r8J4J+lrmnWJz+hGYTHGGGPOMjfp7ru6RuMYJ4wTAFCZzRknyDExHmtlx7s7smrd/xxGf/fH4iCJyewch6n2gRP/zIl6/SCqzxs5ffJy4WFCf+R/WsN64h3BJ3rW86zwl3JBmH/jhYt+GGPO9lTXvm/TNRrJOGGcAIChxQTXdxknyJu6Xvf3nBPptSPe5qw7/7f7OM/yeuhvUuG59kxN23PPgNvT3U5N6WcV+/S/S8YgnsT+1vdW8nvrG4d9bRZ0jr9Un/xBeJgQTyT651M1rStVt/hWH0Gh90b0+WCMaapnevb/Kt2jsYwTxgkAGMpjIbvszcISr4vt/hFv86aM7Vjv4zxLfMw41gD9qNV+DeUT48dDPXcr3xDaFxK+7HN7urfr1Sn8nGKsPy8ZgzjvxO917eREk+qq1+uGoNYwk+/giM8Ntob5ycVLfQyZnuuJ1wtCgjHm/5zTOc81Ae90MU4YJwBgYBtC+o7V3rrQa3NOpv824m3enrEdq3ycmWJtxZjo/CmUSw7fV/P2xAtCcWLAL0tsy4utds0UfzZ7QvkLF3/WlXOfSnhMeGrzeFBrmMkWE169F4RjffsFNa/30Z51Hg7V1tCfFr2Jq+eFBGPM/4mlVL4ILopPK+OEcQIABhbv9I3JwJOdAfLvidcsyzmZ/m7E27srqGU9qJWt9n0oTg5/NqLtiXMmfJ2xDbEO5LRPOLQ5lE/Yx+NyoS78nwnZsmK0SXhq835O3K+Y8n2PSd9rW+22zg/vmEQ52PmOSh2TV4d23dpPOq+JJR/iBdN3Oj9IFw+xHVeG9sX2eBF2b2eZcdmXZLwnfofGOtHHO9vxdqtdXEE8burs47ud9Z/u7Gt8squOi743dn68d8c0jh0Pd73mtkTffGtEfeSRnvV+GNoXEWi7oyc+jwoJxpj/uLTz3Zb1BOodEzpOxL/HMi8PdNYRP7+PJ3DsHvVYZZwwTgBAbVaE9l2/KzL+/k3OCfWyEW7n/pCu8005V4TsuqHd7foRbU/W3VVbpvxz6KeOfbwwdp6uG/5SECdP29RjYU5C4acp3N94x+PuVnsztEsTZPW3T3red1mrHShxPMcLp9eV2I5LO8mQuB0/hP4unMenq14L1V6UPb/zfX2kxD6+XdFncXdo35GYt665R+efT/xt6wj7Te+8LTFJ5GaCsxMxMWF2l5Aw42NM6Hw3fREGm99pyxjGiTgmxhKX3+Z8Vi/2GYNnE8vYUEFsxzFWGSeMEwAwdnllPEZ5h+uhxPoP+nj6sqPEieyo6sffnlj3V1Me/3iR65tQvo79lbps+K+COJ30w6c2t+TE/bUp3N9rOgmKOOblJeF3dL0nJpdPhfJJl3inX9HkgvEiwFOdH6/3heynTPb2vO+CVvu0YP0X9RGPeLfiQ6F9F+bc+38M7bvg5i6UxeTPK6G6+W6uSuxDvCvxztB+QiuKTzTMlVi7pDNu9O7n5SPuO7F+/g89CZlZvpNyS1csjoZyF6swxkz7GHNDGCxZP9duHsM4sbHz/RvvFs9Kht/W57jSe1H8185YMqhxjFXGCeMEAEyMzSWTF3U7GdR8HNb1JX4UxJPn5SPYllTS/r4pj//+Pn6c3a+7/ue755eCOLlwV5/nc+K+dQb2f0PGvt/Q+fujXcmBOBau7iQP5srqZJV9+HKAbfkgsZzbu/4eL1x9VOJ7pWwyOz6Z1Xs36LsZY8OFPa8btFTCtnD2nZwxubEx47XLOwma1IXoo2PqL5d09n1uO+Lnv3QGvze6S0Ec6PQPMMak3V3hb6u6x4nVGa+/oI9tvLXi87hxjFXGCeMEAEyUNTkndvtHtA1ZtfV3+nj6ToqUSRg/PuITtrnHIs+d4tg/Fson7F8Os13HPt5R+9dQnLCPbY/DuhaLQn6JmJtnIAYLQ/pO+QVd31/xyaSsSeVigiRr0u1b+tyWvSH/bsh9nX/b3fkefSqky02UmZw1JnmO97z3pYL3dL/2VJ/7trgTx95SQkVlr17ufB5Fd5aOus882bUtX4T+nm5o+vEy92RmvPjysK9RjDGF9iX2fd2Ay6p7nFgehn9C9tXEMp4ccH9HPVYZJ4wTADCR4g/qkxkn1T+H0SQXsy4cbPHx9KVM3eW5hMmCmrelt57mW1Mc97WhXAI6ts/DmTIQsyZ+l8SSW2VLCMW23WFdi4cK4n7TDMTgipB+umtu4tMyk6XdG8qVLCjyes/7v+762wNhfl3hmBDrvWDwUIn1bBtgW5eE+Rc2ylqSGJdiIu/SEu99ICO2Gyeg78QSPnMlKGYlKXFdZ38/DdM/STXGmKr0Xrg4PcT5d93jRGrS75f62L4lnf2r4rMe9VhlnDBOAMBEy0v2jmISyE0Z617voykt1k38NZRPht5R47bEHyS9d8dM6+RD8SmRIyVj/nOYzUlVV4T2kwj/Cv3XeF3r0K7cbRk/rIeZeK6J7gzpOwLjnYhln0a6LFRTIufbkH7C5IrOZ/VB4j0XdRIqr3X2pcjDie2Mj+4XXZjvLXX2Scl9WhzmlxCKY9SNJd+/JSO2509QH7pjBr87wBhTTurC8DATpNY9TjyZ2N4/9rF9qYvYg1ykGPVYZZwwTgDAxHssjLf29vYwvgsG03SS1Fv3N+8H0wc1bkvvZFwxUXP+lMa9nzr2sYbriiluK1vt96E9uez2zg/KmKj/JQw+Mdsyh/bQLuj8mH04pGviZrXPWu3Zzg/9+MP96imLy8uJff4u9PdU0IKQPSFtWRdmJEoWdD6DeBHhkiH39Z7EOn4I5R7Z/7DnfY+WXOdbiXU+1Mc2v5B4/ycOZzDGNMT9Q34HjnqcSN3A1U8t8g8T73+nAWMVAMDE2xTGW1N6V8a6F/toSnspnJ0kv6HED6bVNW3LE2H+HTLTaFcYPBmtFbcjDutKrKvo85i2icFTT8j8GPqfMC0Vq9N9vH9jSN9N/qdQzQTeWROU313ivb0Xg4+XjE9qAtl+JyNMXVR50uEMxpiGeC2xj4NemKh7nFgQ5j8dcbiP91+e8Zn2c5FiHGMVAEAjrMg5iT40gvWn7laWsOtPdwLqQOffPin4gfRCTdvycc96tk1hvDcHSfW62wGHdSXij/FFFbRpmjx5VUafG6Tu7LB32vdOLhgnrVveSToMe2f50pC+OPFRiffGOxt7n9h6oMT71of0RYzL+tz2t8Ps1sEGY0zzY3IiVFdjvc5xIroxDFfP/pmMsbDsRYpxjFUAAI2SNTlknKS27jveD4Xh78qbZatDOvF0T8hPip5qtXMr3palifVcPmXxjgm/fwdJ9brbLoc2NUmVLTg9wPfhojD8UyK9iYp4MfXZzn9fNeR+vpyxfTcUvO+CTlKo+z27S37/f59Y31MDbPuJUN0EjgCjdE3ie/C1IZZX5zgRPRIGn/Q7zqn1U+L9xyd4rAIAaJw9YXyTQZ4M0/+YbJ229cTums6/x7uWjoX8xOiDFW9L7yO830xZrOMFrM+DhPoo2maHNjV5PdHfXhlgOVl37L9R8v2pkgLxDsFfKxgDs0oNfFjwvnhH/Nc973m25DpTdehjyaGlfW77ysRy3tRtgYb4U+I7bMuAy6pznJjzTmIdy0u+d2sYrtzROMYqAIDGyZoMNrbHalzvsox17vSRlNY9edQPPX/bEfITo4cr3pZ9YTQleMZlT5BMH1Vb49CmBqmyBbHdOsCyNmT03WdKvv/BMH/S7hdD+67yYScV/Chj227PeU9MKv3UM57cXnJ9WTWNHx9g2+8O6SQVQBOkkuCDPnVa5zgxNyb21rP/uo/3fpvx3X/vhI5VAACNtDaMZ3KoNRnr3OIjKWVJ5wQ+67O6uOfvqbauwu3prSt58xTFenOQSB9lMxE1dUjd1Xc8DFZ65eGMvlv2AkBvYudwJxHxXA37GNuxjP2Mk/h9lkgKXdDHOlNPL5zucxlzUhM4Xq7rAg2QSoIfHWJ5dY0Tc25IfN/uLfneeDH1+4zxZtWEjlUAAI0UE2QnM06e6ixxsjmMpyTPtOgtR3NH4jWvhvzk6NsVbcuVYX7CZlomFov7po796No3Dm1q8ugQCYpeb4Z0orrM997CRGLndKddNOQ+vp5xXHXXlr82tJ8I6E64xIsXsbxAv3dvZpUJenmAbV+UiMu3ui3QEOtCNeXX6h4n5qQuPpepZ7+k8928O/H+st/Zox6rAAAa7UDITqKtqGmdOzPWt8zHUUpvuZbUSfz1oThJWsWJb29t/WmpQRz74pEgkT7Ktt+hzQjHuQ0VJVP6Sc7cnNH3h51Er/fpq+72dGg/jfVDT/Ij/tvtYfCLrM9lrO+mAZZ1V2I5e3RboCFSZSnvGHBZdY0T3d5OLL/MBYE4nsQJbN8Lg10IH8dYBQDQaLtCdhJtU03r3JdY10kfRWndyeQvcl73WchPkj5Zwbb0nrhPS4mj/UESfdTtMYc2NViYSBLExPuiAZaVVc/+hpLvfybj/VcOuY8bc46ruO+fhvaFhftD+w7GBUOuL74/NeH5oCWHPkws6zZdF2iID8JgSfBRjhPd39+nQv9POq7u/OZYFNKJ9zJ36o96rAIAaLzNYfRJtIOJdR3yUZRyVU/cns157ZaQnySNSZdh7lxJJcMunoIYPxYk0MfRNjm8qUEq0f7WgMtK3Z34cR/v/zLx/oMV7ONLGcfUwzXF9IZQ3Vw4V2Ukb87VdYEGSJ0Lfz3E8uoaJ+ZcF/q/Sz4m6uONQPEp3qwnAc6fwLEKAKDxVoTsJNqBmtaZKjuiNEY5vXUoby44yT4W8hOl9wyxLb3JsE+nIL6/b7VfggT6ONoqhzc1SJVxuW+A5VyS0W9vLPn+5Rnvv7eCfXwv1HtnZq8dobrJ5FMXQj7QbYGGSF0YHrS8V53jxJyHQv93ycfSPC92/vupxPs/m9CxCgBgKnyTcRIVS9YsrnhdizPWtcvHUEp3beYykx8+FfITpZ8MsS3Ph+rL7YzTea32ryB5Pq622OFNDVJlwga5QPRCYjn9zOFxd0hPYLukgn38KeOYqqu0QNZEguv6XE7W3CuP6LZAQ6TK2Qxa3qvOcWLOa6G/Uj6xnvx34czTT6lSQM9O6FgFADAV8up3V33366qM9Wz3MRTqncDpnRLvuSQUJ0uvHnB7DofB6jpPqneDxPm42ucOb2pwYaKvfTvguNVb/iBOlre8j2Wk5nJ5taL9PJ1xXNXl2zD8hbeYpPkiYznX6rpAQ3ya+A5bOuCy6hwn5pwI5evZXx7aifa5C7KpUkCx3TKhYxUAwFR4LGQn0zZXvK71QT3rQfVO4LSt5PveDPkJ070DbMvKUM0EhJNiR5A4H2fb5/BmBN+Zg37fHUgsZ0Ofy0jdYVjVZKujToScqGB9j7baj4llnNBtgYY4N/EdllUqssxF3jrHiejKPsbEWKM+1ubvvov+xpB+EmBRxu+EcY9VAABTYW3ITqbtqXhdWZOjrvExFNrbE7MrSr7vhpCfMI0n0Rf0uS33hulJusY7iNSxH2/7s8ObGryS6Gt3VjBmPdHnMq5JLONUGG4i8G5HMo6rSwZc3jmhXcM46/2/Dpl4mRuTUuXbXsv5HJbq0sAE+WMoVyrmwdB+mnOc40Tq3D222xOvi0n490P7aajuJ6i2Jt7/XuL9D4T0HfyjHqsAAKZCPCE7mXEi9U3F69qZsZ5lPoZCR7vidbTP934Z8pOmf+pzeb01Me9oaEx/m/MjQhtd86QNdUgd2/2UfIulAXrvKh/kTv1HQ70lD17LOK4eGGBZl3USNXHsPz/jNVl32pdJqsf4xwnSnw7pSYLvz0gAHc3ZHoBxeDEUl4qJFynj06hFieW6x4no5VCcMI8XCd4I7SehLuv52yslfj/EuUrihd0bJ2CsAgCYGofCaCaITNVrPCn8ha4OwyWO7gv5SdPv+lhWLIPTnbSJJ+dNvAMy/jBRx34y2iqHOBVLzZ9yqo/3x6ePvg7VPHmWmrivygud92QcV9+HM5MHlhG3KZZniAnyS3Ne91HG+u4qWH68CBIvpHzW+f59K7GMq3res6Hz7zfq0sCE6Z3oPJ4Pd5eKiQnxeJHy7gkYJ1Lb2/uE1JKu7+X1ifd/knj/9V1/X94ZP56dkLEKAGBq7AnZCbW1Fa7nYGL5h4S/0CM9MdvY5/sXh3StzEFqNPfWtPygoTE9r9O3tfG3hQ5xKnZ/4juu7HdVvAjZm5h+dMDt6J1AfC6xs6TCfV3YSXqkvtffDcUXVS/pStTE5VxW8PqnMtYV73pclPGeWJf5x06S5eLOv6Vq2nfPjRKTRqdD+u57gHFakvj++qTr7/HC7+HQvjt9EsaJ6FRIPxmwoPO/hzv/dk/G+0/kfGdf0BkDPs45pxv1WAUAMDU2h+xk7mMVridVrmC/8BfqvQNnkEdBnw75SfsDJZfzRM/7HvbxABPm9cR33Bsl3ndRaE8kOPeeOGatH2I7bktsxzs17O+tOd/tMbkRJy6PCY65BMuSzntiQmkuWRQTTmUmS1wZsuvax3Hk6s7rYgI/Xgx+r/O3H7v+FqUmJbyms40PdNbxhK4MTKBbEt9f8emseJNMfKroq853apmnlUc1Tpwq+B0Qv3PznphKfe/HMeOKzv7GpwqKygCNcqwCAJgaK3JOoqpKqi/OWP4u4c91bs+J8icDLmdlqKZMycchv5wBwDj1lvCaa8dC/p2L8ZH77rlDYr3iYWvlvpTYjvtq2u8Hw2DlqeaS44v6WNcjfa7jSGKsOF3wnod0ZWBC3V3w/RXvWr9wwsaJV3O2N15wuK7g/d/kvD/W7b9+AscqAICpUfdktKsylr9d6HNt7InXk0Ms6+2CE+JnC96/NMxPxABMkutzvuM+bLVrO6+Lyf14R19MjszdXR8TyS+G6uZZSCU5Lq5x329utW9D+QTInjB4iYFHQvYd990tTn54QeL974fsOVbW6cbABMu7Y/xAxnfeuMeJuE3xAsFcucyfOr8L4hhYpkxhVmm0o13j6iSOVQAAU+FAzgnTigqWvz5j2ZuEPlfv5L03DbGsdQUnxvFOmXNy3t97AeElHw8wYR4P6dI4t4f2I/YxQRLvxD/V+c77uJMQ2Fjw/dcUCzr7Evf1285+du9rTKLHpwqqmEA8XtyIF3s/7YrpT53ziR0h/+JHTEq93/WeWA7i3uAuSqAZ/tQZT+a+w94M1U8eO0niE9MvdsaSuM/xaYJ45/ugT6SNcqwCAGi8x0J2MndzBcvfFgYvyTLLuss1nApnT9Q3iK9CfuI+75Hc3gsIG3w8wIT5IPG9tkVYAAAAgCbKuhM+tp0VLH9nxrIXC32mq3ti9WYFy9wa8pP2n+W8t/sCQiwj4Y5IYJLE76RUyRYXhwEAAIBGWhHy6zMO6+8hPTkd2R4N1U9MFSdiPB7yE/c3JN53Zc9r3vbxABNmg3EGAAAAmDapyZBii5PUDntH/D8Syz0o5Lk+DPXcLfpsyE/av5Z4T295o/t9PMCEeT6kJ0IFAAAAaKw4GV9WInfNkMv+ObHMfUKe6dyeWH1b4bJXhfykfSwvcXHPe97rec1lPiJgwnyZ+D67XVgAAACAJtse6pmMdkmor1b+tNrYE6s9FS//vZCfuH+867ULw9l1og/7eIAJszzju+wioQEAAACabG3ITuIOkzT+XcYytwh5pn09sbqt4uXfHPKT9nHS2QWd1/bWiX7WxwNMmNsT32MuMAIAAACNF+vWx/r1qSTuN0Ms95aMZa4X8kw/hrPL1Zxbwzq+DvmJ+zs6r+utE32TjweYMHsT32F7hQUAAACYBnFy2Kwk7qCT0WaV3Vkl3EnX9MTpw5rWsy3kJ+0/6LzucNe/nQhn7sAHmBRHgnr2AAAAwJTKm4x27YDL/Euo9iLAtHs0ZNeXr1Kca+BUyE/c3xZMHsz4nN9qT7baM0JBjhszvr+uFhoAAABgGmwO2Qnc7QMu8+XEso4IdaaPe2J1fY3reiHkJ+2P9fz/u3w881wQ2hcz4gWQ4632XGhfEGFw8YLew+FMmajXhYQM8Vj7NOP761bhAQAAAKbBipCdwN0/4DL/kVjWQaFOurAnTnWXo1kV8pP2vW25j2ie9xJxekNYBhL7epygurfUiaQ93RaG9lwpW8PZ5btSE2rHJ5fiE0Nx8u0LhA4AAABoqqzJaP8d2smSfn2XWJYyK2n3jCFO74dyCftPfDzzLMqJ18XC05c/huwErKQ93eKTGG8N0JTLAQAAABrrQMhORF7R57LOa7VfEsvZKcxJb/bE6d4RrPPWUC5p/7iPZ56lOfFaJzyl3BDml4SStAcAAACALo+F7OTZpj6XtTJjOVuEeZ5Ym/l0T5xWjmjd34bipP01PqJ5YjmXnxKxip+jiZbzrW61d1vt61Z7qdWebbUfgqQ9AAAAAMyzNmQnbv/a57JuyVjOemGep7c0ztERrvuhUDwhLWl/SsRrq7DkeiS0yzL1fg9sDJL2AAAAADDPspCdvO13AtktGctZIczzfBjGl6g8P8y/y7+77fXx5Lqz83nFdptwFMqaEDQ+ufBrkLQHAAAAgHm+CdkJ3CV9LOcvifefFN55rkzEafeIt+GFnM9cIppROR4k7QEAAABgnj0hO4G7po/l7Eu8/5DwzvNmIk7Pj3gbVmd83vHO53N9RIxIao4ASXsAAAAAZl5WWZvYtvWxnM8T798vvGfJqvv/0hi25YPEdhzwETFCkvYAAAAAkLA2ZCft9/WxnCOJ9+8S3v8T727/IWRP/nrhiLfn9jDcRRoYlqQ9AAAAACQsDu3a81nJ5DJ+k/H+7cL7n4k4Hwnp+t3d7fvQfuph6Yi2K04E+l3PNlzu42KEJO0BAAAAIEMsi5KVTF5Z4v2rMt67aYZjGu9a/yS068T/b58tTg4ck5f31byNj/SsE0ZJ0h4AAAAAMsQyNlkJ5P8q8f6sWu1rZjimb4X+k/XDlCcaRHwK4HQYz2S4IGkPAAAAABk2h+zE8c4S7///Mt67TGgn3u5WO9VqNwtFpuWttiG0n0x4tdW+brV3hWVokvYAAAAAkGFFyE7a/6PE+/+SeN9JYaWB7m6150L7KYcPQvuCRuq4eESohiZpDwAAAAA5joR0cjIm388reO/LifcdElIaKCbrX2u1d0J2wj62a4VqaJL2AAAAAJAjbzLa3xe892DiPfuFlIZb0mpfJfr2CaGphKQ9AAAAAOR4LGQn7bcUvPfnxHt2CSlT4I1Q7wTB74bhJyyuq9VN0h4AAAAAcqwN2cm7vCTlkoz3bBdSpkCqbNS9FS5f0l7SHgAAAACSloXs5N03rbYw432/y3jPJiGl4VZm9O1LK1yHpL2kPQAAAABkisn5rATebzPesz7j9WuEk4a7J9Gvv654HZL2kvYAAAAAkGlPyE7grc94z/aM1y8TThrutUS/3i0slZG0BwAAAIACm0N20n5nxnt2JV57UihpuAWtdjzRt28TmspI2gMAAABAgVjSJitp/27Ge/YnXntIKGm4axP9+tdWO1doKiNpDwAAAAAFFof2XfKppP3PIT0Z7aHEa/cLJQ33SKJffygslZK0BwAAAIASDoTsu+1XJV6fSvLvEkam8DjYISyVkrQHAAAAgBIeC9lJ+y09r12W8brtwkiDxSdKfk306xuEplKS9gAAAABQwqaQnbR/uee1WTXwNwkjDbYh0adPhPbktFRH0h4AAAAASlgRspP2/+p5bVaCf40w0mDPB8nkUZC0BwAAAICSvgnpZPwvrbak63XbM163TAhpsK8Sffo+YamcpD0AAAAAlLQnZN9tf0vX63Yl/n5S+Giw5aH8JMxVeDfnWBt3q5ukPQAAAACUlHUHfe8ks/sTfz8kfDTY3Yk+/V2N65O0l7QHAAAAgEJrQ3Yi7+9drzuU+Pt+4aPB9iX69N4a1ydpL2kPAAAAAIUWh3aZm1Qi70irLey8LvWaXcJHgx1N9OmNNa5P0l7SHgAAAABKORCyk3krQ3uy2aLyOdAkqzL69NLEaxcL19Ak7QEAAACgD6lJZufaplZbk/M3aKI7Ev35k8Tr4mS1sc79pUI2FEl7AAAAAOjD5pCdtI8J/U0Zf1sjdDTUnkR/3tHzmkWtdrDVXhOuoZ0KkvYAAAAAUNqKkJ20/2erPZbxt2VCR0OlSkJd3/Oal0O77v35wjWUJRnfH28KDQAAAABk+yakE2u/tNrfEv9+UshosOOJPr2g6+/Pdf5tnVAN7e6M75bjPTEHAAAAALrsD9l323+Z+LdDQkaDZU26fHFol8OJ//9BYRpanBPg25zvlh1CBAAAAABpj4XsxFpqEsn9QkaDHc3p77E9I0R9i3fNL261S1rtllZ7qtV+LIhzbO+12j2h/VTD0tCeSwAAAAAAZt7aUJxc652gFprquYx+/WurbROegazr8zskrwEAAADAzIt3yMY69WWTatuFjAY7p9WeD+07wU+FdgmXF1ttldAAAAAAAJMi1qkvm7TfJFwAAAAAAFCfPaF80n6NcAEAAAAAQH02h/JJ+2XCBQAAAAAA9VkRyiXsTwoVAAAAAADUr8xktIeECQAAAAAA6ncgFCft9wsTAAAAAADU77FQnLTfJUwAAAAAAFC/taE4ab9dmAAAAAAAoH7LQnHSfpMwAQAAAADAaHwT8pP2a4QIAAAAAABGY3fIT9qfJ0QAAAAAADAa94fshP0J4QEAAAAAgNG5IkjaAwAAAADARFjSaidDOmn/S6stFiIAAAAAABidD0L23fa/Ex4AAAAAABidv4d0wv51oQEAAAAAgNH6r5BO2v9BaAAAAAAAYLRWBqVxAAAAAABgYnwX5iftfyMsAAAAAAAwevvD2Qn7n4UEAAAAAADGY0c4O2n/uZAAAAAAAMB4rA1nJ+3/LiQAAAAAADAei1vtZDiTtP+rkAAAAAAAwPgcCmeS9tuEAwAAAAAAxmdPOJO0/4NwAAAAAADA+GwOZ5L2vxMOAAAAAAAYnxXhTNL+N8IBAAAAAADjFSej/VkYAAAAAABg/A602ufCAAAAAAAA47et1f4uDAAAAAAAMH5rWu2vwgAAAAAAAOMXJ6DdKgwAAAAAADAZrhACAAAAAFL+H/MdUVunRZg2AAACQHRFWHRNYXRoTUwAPG1hdGggeG1sbnM9Imh0dHA6Ly93d3cudzMub3JnLzE5OTgvTWF0aC9NYXRoTUwiPjxtc3R5bGUgbWF0aHNpemU9IjE2cHgiPjxtaT5SPC9taT48bWk+TTwvbWk+PG1pPlM8L21pPjxtaT5FPC9taT48bW8+PTwvbW8+PG1zcXJ0PjxtZnJhYz48bW4+MTwvbW4+PG1pPk48L21pPjwvbWZyYWM+PG11bmRlcm92ZXI+PG1vPiYjeDIyMTE7PC9tbz48bXJvdz48bWk+aTwvbWk+PG1vPj08L21vPjxtbj4xPC9tbj48L21yb3c+PG1pPk48L21pPjwvbXVuZGVyb3Zlcj48bW8+fDwvbW8+PG1vPnw8L21vPjxtc3ViPjxtaT5wPC9taT48bXJvdz48bWk+cDwvbWk+PG1pPnI8L21pPjxtaT5lPC9taT48bWk+ZDwvbWk+PC9tcm93PjwvbXN1Yj48bW8+KDwvbW8+PG1pPmk8L21pPjxtbz4pPC9tbz48bW8+LTwvbW8+PG1zdWI+PG1pPnA8L21pPjxtcm93PjxtaT50PC9taT48bWk+cjwvbWk+PG1pPnU8L21pPjxtaT5lPC9taT48L21yb3c+PC9tc3ViPjxtbz4oPC9tbz48bWk+aTwvbWk+PG1vPik8L21vPjxtbz58PC9tbz48bXN1cD48bW8+fDwvbW8+PG1uPjI8L21uPjwvbXN1cD48L21zcXJ0PjwvbXN0eWxlPjwvbWF0aD64mnhjAAAAAElFTkSuQmCC\&quot;,\&quot;slideId\&quot;:262,\&quot;accessibleText\&quot;:\&quot;R M S E equals square root of 1 over N sum from i equals 1 to N of vertical line vertical line p subscript p r e d end subscript left parenthesis i right parenthesis minus p subscript t r u e end subscript left parenthesis i right parenthesis vertical line vertical line squared end root\&quot;,\&quot;imageHeight\&quot;:56.187333333333335},{\&quot;mathml\&quot;:\&quot;&lt;math style=\\\&quot;font-family:stix;font-size:16px;\\\&quot; xmlns=\\\&quot;http://www.w3.org/1998/Math/MathML\\\&quot;&gt;&lt;mo&gt;(&lt;/mo&gt;&lt;msub&gt;&lt;mi&gt;L&lt;/mi&gt;&lt;mrow&gt;&lt;mi&gt;p&lt;/mi&gt;&lt;mi&gt;r&lt;/mi&gt;&lt;mi&gt;e&lt;/mi&gt;&lt;mi&gt;d&lt;/mi&gt;&lt;/mrow&gt;&lt;/msub&gt;&lt;mo&gt;)&lt;/mo&gt;&lt;/math&gt;\&quot;,\&quot;base64Image\&quot;:\&quot;iVBORw0KGgoAAAANSUhEUgAAAU4AAAB+CAYAAABLXvhwAAAACXBIWXMAAA7EAAAOxAGVKw4bAAAABGJhU0UAAABEsZUXFwAAEdJJREFUeNrtnQ9kV+sfxz9mklxjkswkMpnJRK4kucZkksxIMplEkmQSuSZJYjJJEpkkV8YkM5lIklyJJEkyJpNJItckM3F/38+v53t3dvY8z/mcc57z3fc5z/vF47Lb95zn3+dznj+fP0SrR1OlHCAAQJlohlwXR1+lfK6UxUrZgu4AoDRMVMq/lTJZKa3oDjesr5T7qmO5PFFfKABAOTgbke9/KuUwuiQf3ZXyJdKp9yql0bM2/FvDsg9TBnhKT6XMR+bynUpZi25Jz+WYUrjhaTvuqa3I60pZKEBZfq+UqUoZr5ROTBvgMdtjC6W3lbIJ3SLfmj+JKYerJWpfR6UMVcrXHMpyplLOVEobpgsoGawoZyNznRXpbnSLHb70+RhTEiMlbWtLpXzKoDSHK6UBUwWUmJaY8uSdGm7dDeyMLdO5jJa8zWdSKs1zmCYgIOU5F5v/uDSK0UXLD4a5PAig3b0plOZjTBMQGO208kjrELrlF3/QrwuOaOe8pDBu1NIoTlz8gBDh882fMVnYj+35ypUmb9c3BtL+I0Kl+RzyAwLmREweflTKjlA7YzOtPNPkL8uegPrgulBxnoDsgMAZi8kEexG2hNYJ7PkzrVEQFwPrhymh4myB3IDAYZ0RvyziI73GkDphUqMcXgc2EdikaFGgNN9AZgD4P/s18nEtlMaf0zSet+gdgU2CLuFq8wrkBYD/mNDIyN6yN7qTVt6QBfXViDAsVJzdkBUA/qNNo0N4C99U5q3pO9L7Wq8PcAK8FijNHwQvIQDi3NLIyq2yNvaCQTlcDnDgNwpXmw8gIwCsYKtBXn4vW0PZcV8XGWiRwrHZjHJUqDiPQ0YA0PKIArhgvmtQDPcCHfQxoeJESC0A9PQbZKa/LA3ssCiGngAHnM8s5wVK8x1kAwAja0hvzjdDJbkXMK2uvlOYFx+7havNa5ANAKxMUEmPuLZYFMNYoIN9Qag4eyAXAFg5ZpCdad8bNmJRDAOBDvZLgdJcJJghAZBnYdbra6PYh9SWHiLEFL9NwtXmJGQCABGfDTL0zNcG9VkUw9dAB/mQUHGehDwAIGLcIkdbfWzQA0uD7gc6yFIzpK2QBwBEDFnkyDvnGt6m2yL/DAc6yF9IlsESACDDlkXho2+NOZCgHELMG7JDuNq8AVkAQExrgjx55YaZFNl8T4ADPCRUnPshCwCk4qdFnrwKjv4mQTmsCXBwn5LMDKkRcgBAKmYsMvXKl0asSfgCLAQ4sOsS+qRapiADAKRmwiJTLHdeZMztTlAOnwIc2D7hNn0QMgBAau5SCY6/jhGMu+OMChVnO2QAgNQkZVO4UAbtPx7gwM4JlOZHzH8AMjGQIFte2I1PJjTiTmCD2i5cbd7G/AcgEwepBMeDswmNuBnYoA4KFWcv5j8AmdifIFt8QVT3QXMWEhpxNbBBfSRQmjywazD/AchEj0DG2uq5AQ2CBhwLaECTXE+r5QnmPgCZ6SLP49uuEzQgpDicB0i2TT+LuQ9AZloEMtZXzw1oFjTgSEADep1kinMb5j4AmflNIGN1ncRtDxTnMqYF/fEZ8x6AwhXn0XpuQDdBcVZpE64272DeA5ALyRFhXd+tSA5pQ1Gcx4WKsw/zHoBcrBHI2aV6bkAHFOd/TJDMDKkJ8x6AXKz1fcUpOWsI4VadzbIkZkjPMOcBqIneqeszzkaCHScjOevlch5zHoCaKM7+em9EUtzJEFJDjAgV5w7MeQByIzGDrPu7hKSEZLcCGMi3goH8ivkOgBMkZpA99d6IhxS2+Y3Ei4HL3Tqp7041Jvsgf8BT9pLnvupEiMd5VKg46yXT5xNVnzHIH/CUUkRHOk1h59UZI5kZUnMd1HV3pE6HIX/AU5LicX7xoRH7EhoxV+IB5K/ad4HifFEn9X1FS9k110L+gKckRYB/4EMjktyfypzlUnJIXS+5nvsj9XkI2QMec5FKEgP4PYWZVz1pAKtl1yrXs5mW50E6CtkDHpN0r3LQl4bcSmhIV0kH8JVAaf6g1T+ovk3Lz1vXQ/aAxyS5N7f40pCkPOKHSjh4EiPcejhvORSrz1PIHfCcjxZ5m/GpIXzRYPPVHi7h4B0SKs6hVawjeyrNx+pzEnIHPKaB7N6K3iWHfEie33KlRGKGtJrZLDtJ79XVCtkDNaCoe42kuLd7fesom4lA2dwN+av3j1Bxdq9C/fYb6vcC8gwKkIV2tUDgy1J2ePmk5tvOAt5nOxacJw8M3+OsS9iul2mlIwngvBpfQI71abuoOwc5Bzn4Q22F71XKpFoQmbbNRV2KXrbM71FfO/Y2hXFBNJpCcdbijJMn6Cn6lc/IVpd2yD7IAScj/KaUYtK8nyyoDrYjwV2+duwOKn+wj2bhxIl+eYsKcbVZKeZZQT3eQe6BQ/gM85hlvg0WtEBYMLzvje8d+oLKnd1RmgI4Xjj03LA6C+pWCrgx4V2N6gikTW35+bccG4ANgD+kfP8lyDooAJMtcxGxZ3eTpxHfJRywNG67520bzKg066EgiDKo1ULpe0HvMnnqfSIPL4V0mAL7XvawLeyFMGBZSftQZiHfoCB0W+fxGuuV02XpzF7Ll8EXRkgW+ciHcg3yDQqg3TDfThTwrk7Duz6WZbVZ5aWhofs9qX9SZHufyh7IOCiA44b51lHAu66Rp7mF0rLd0FD4SgNQDu5TbZxdmgy7vydl7ViTveNOzDkAvIa3xzqzvCJSslwg/QXUlrJ2Locv0/lLP8O8A8BrTEG8XZsFbTCsNksfrMZknnQAcw8Ab7lgkOtNNdi1BpPBQNd4vg37DfMPAC95rpHpacfv0Bm8z1JAgbjZ+0Vng3UD8w8AL+VZF9zjusN3/EYrAxbzmWpnaJ3NB7lfqT7CrgEAsmMK7eYy9uw98teU0Tkclioeeo4vjzZiLgLgDbqjN5ZrV8GLT2qefyz0TtelnGB3xkbMRwC8YJqKs8/u0hwDnEWX/+IE1cb+C6wOfAbWrT6S5+lXNCe+CeVYjqac17zr4CAq99UuZEGtYjiqNxs6c4CHzQ7ryHaIO9Vc5G0hJ/nanfAbrt8HVTc2qdvmsD6talXFdXmt2s3t53O9t6rf2gocMzYvGlEKMPpu7vuoBcxmKi5IdoeaI9HnnoE4LUfnrnUZ3eIdW9XW7YEScFO8RNM5WKv6/U9Kdh3lf3Ml4+6EzWT4bI4vMJ7TyiOjBTL7PG9WykznJZM3s0GfUlYS19kFchsQvEFti6cF764G0jDF4Mzr1MJ9/BnbcxmHsSz3nh1K8d1Wu4YvFuFbjCm9fpLnboqWKZIFduhVK9ivlD1i+a6ENl3N2G+9tDKm6kvVJ1UzvTa1so1/PFyEZ9ynUZhvlLKqfgw4ZuyFyNhtIn2Swm8568LPnaPlt+ew8xacacSX54PoFm/hC4JHBiUTNVweiSgC3p720NLlwnq1ErIpvIvCIyE+JriplPvflC4fE8/NpAhZaSPrtyrFH08yNmDZvsbfeS/H+LBSvqN5/xHB7nCQVqabznvMxkrzEy0PeI7YsSm2ex8IicXKtJPQKZmqm9wNWroUbE8481qwrF43ZKjbTZLlq9llUBJ5VlsHNIuEOUqOJqTL5uhKzj6pvyfBq9OPhj7oz1ifjtj2/FnGMQ2a39TqIDogI+gWLzFFym+jpSjeo8Lt9g3BuVsaDpI+L1SUtshq9y+l8J4LVtE2dNHL5yjZRbHB8NFIyx6N0v5C8jPau+Q2g+0fsfpchNjk41CsQ8eouOT2oBh052DTtBS3II2HyX6LwN53tBqOPqeZls7+ouftWwwrUMlZnC7763fhlrTTwYqzm1ZGMlpIuSUeJXdJAI/Q0uXcrFKiwAEbI8I3T8WaYQD36LJuPlAfxImUz2q2KM4sCQCHyZ6RcUL97YpBic9HFN+pHCu1w8L6DuX8YOwhffi34yn77Q65yS7AK+j36rc3CfEqCqGLAnaz8pRNBgGbVwq1KYOg2cxz0vKMzInsTlOyMXejaoPkmOGKod7Sy51Gw0doQPh7nV3kvxk+Xsw4ucvowCvg3RAVAJbotyi6rCYmNvOmNLAi+mnY9m5VipgVTauDfhgw1JnPFaXRff7U/H5GqLSb1b/VXWZlcXF+RMnmZQCAjIwZFMaLHM80Kc4fKZ+jSyI4FluJHnHQBx2G7XGaALydpLcokAbFmTC8/1TGNunOdx9jugPgBpOxeFaPlzUWxfkl5bN0N/Rs61m9MHKRw4ZXg+8M9Z0WrhY3GLboQ8I6mLx73mds03rD8+CsAoADTClcv1H2FK5bKL23jwmdayHX+ZPadrq4hLxgqa/EhbCFVtpapjHX4d+bvLGyZoQ0hZGDoToADjhtELDRHM+0mSPdTPGcNtL7mldtTi85aH+LZYv+VfDxYKP7uL82b9cHUtTBdIv/Nke7rlFtslkCECSmc7WuHM88YVGcB3M+Z1xtiVlZuTCLuWqp67Dld2vpV4Cb+MXVK7J7VsXZlnO1a0K3Av4L0x2A/DSQ/jIj78rknkUZpMk9o1PqLym7B1KcDWSPDKVza2SzpnOaVeZsRkV33/Bu3rpndSJpp3x2qAAAC6Z0sbdzPneW8t/Ss1JfJL05zSxlP3+Ncs6iNP+O/Ds23+lVH4R4nV6rbXmW+mx2dKQR56KDjxYAwIDpUiRPHpp2izI4keI53ZbnnHLU/ndkDz3HZ6kPNcpyRv3/vKHiLlnenzWvV4Phw/Ua0x0ANzwj9wbSQwZFwO6Oac4kR8h8YeMiDoJNwccL3+CPK4Xd7rD/TZGLfuRYUZtu069gugOQH51HThZzIekqLq3gvjU8x1XGAdsFFr+bjeo5cPC6gvp/u+X9eWJlvnK8ggUAROh1sJ2Os8ey2kwTs7HFolS2OGq/7QKrvwb9f9ry/qxBwfeR2c21AVMegPxcMwhZnuRqU4ZnDqV8zlHDc546bP8LSneb7poxy/v3ZXiezftpEtMdADfotsIfczxvB5ldBhsdKZXjDttvixRfi9XZa8v7s0RUP2N53klMdwDys9EgYHdzPFN30fST0rv4NRiUGm83XcaBXLQomlrw3aHi3pLwIWjHlAcgP4fIbVAPU76iLGd1pnPSh477YLUVp6v3N6hjh4eUPnB0C0QBADmmyOBZYlrytvKrw9WryXh7wHEfzDveKsdhf/2tGRVnmhUnxxTgiFMmKwGTmyX72P/AahQAOXOUP9xblcekz6Ge1Rb0pWHL3+S4DybJjT+9TfnbTKdsaZQ7U76HV/zXSW4h0K7eD991AIRsJXdJ1HSeRxx1fG3GujUZ6jZVQD/8aVFcWWN8ro9smZNush9Y3n9e8K4rsXEzbdXbNNtzNujncH3IHQSAkOPkxrD8sGF7nudG2nT2eqKAfthEegeArAEx9kZW8qzok7ybbLfg38h8/tgSUZJsBdGs/v6Nks9L+bfsLsoBRDogCgDIue9AURzUbKUHHdTN5dmrhBGy50aS9EkrLY+nKf14JEVmYn/zPvUsLmydwGHuqrfxceVnOjOt2oT2KMX+Uyl5AEAKTGYw0rw98S0uG113OqrbZ6ptcAo+UnhFdj/1p0qBbowpvV6lJKsKi5Vg2lB350nuLx9PVrcn9qyfgt8tUr4ALgAEyU6LUCWFfOMLhSe0/DJpkNwZi5t8ty8V3CcbyO5FJClPKPvt9FTKd/HH5XfNc2YTfseXQV0QAQDS82eCcD1WyrWqDDep1Vb04uG9Upiug1+cNdRpZw36hds7RHYTJd1N/5Rm5ZeWxoQjg7hpkclUypY36aEaSwBABh6T+XyTg/ry+Sefg/1QW0/+74z6OyvLbSXvn7WqL/5SRxDVfqjmbuf+43NYvsRqdvxuvv3mM8yXkffOq6MCXnVL/Ocvq5Xlghq3UcPqFACQYmWju0D4hq4BAAA9PeQ+9iMAAJSaYXKfSREAAEqNyexmM7oGAABWYnJlnEHXAACAHlMCrzvoGgAA0HPboDj70DUAAKBn2qA416NrAABgJa0GpfkOXQMAAHpMGSNxvgkAAAZsbpYAAABi7CJz4AdcDAEAgEZpzpE9zmQzugkAEDoc05IjGX0gWZgyDvrB+dDHCYm7AACBwqkUbmQs19B9IHT+B7BDtWZEoKfUAAAAwHRFWHRNYXRoTUwAPG1hdGggeG1sbnM9Imh0dHA6Ly93d3cudzMub3JnLzE5OTgvTWF0aC9NYXRoTUwiPjxtc3R5bGUgbWF0aHNpemU9IjE2cHgiPjxtbz4oPC9tbz48bXN1Yj48bWk+TDwvbWk+PG1yb3c+PG1pPnA8L21pPjxtaT5yPC9taT48bWk+ZTwvbWk+PG1pPmQ8L21pPjwvbXJvdz48L21zdWI+PG1vPik8L21vPjwvbXN0eWxlPjwvbWF0aD5a2r4OAAAAAElFTkSuQmCC\&quot;,\&quot;slideId\&quot;:262,\&quot;accessibleText\&quot;:\&quot;left parenthesis L subscript p r e d end subscript right parenthesis\&quot;,\&quot;imageHeight\&quot;:20.16},{\&quot;mathml\&quot;:\&quot;&lt;math style=\\\&quot;font-family:stix;font-size:16px;\\\&quot; xmlns=\\\&quot;http://www.w3.org/1998/Math/MathML\\\&quot;&gt;&lt;msub&gt;&lt;mi&gt;L&lt;/mi&gt;&lt;mrow&gt;&lt;mi&gt;P&lt;/mi&gt;&lt;mi&gt;r&lt;/mi&gt;&lt;mi&gt;e&lt;/mi&gt;&lt;mi&gt;d&lt;/mi&gt;&lt;/mrow&gt;&lt;/msub&gt;&lt;mo&gt;=&lt;/mo&gt;&lt;mi&gt;L&lt;/mi&gt;&lt;mn&gt;2&lt;/mn&gt;&lt;mo&gt;(&lt;/mo&gt;&lt;msubsup&gt;&lt;mi&gt;V&lt;/mi&gt;&lt;mrow&gt;&lt;mi&gt;t&lt;/mi&gt;&lt;mi&gt;s&lt;/mi&gt;&lt;mo&gt;:&lt;/mo&gt;&lt;mi&gt;t&lt;/mi&gt;&lt;mi&gt;p&lt;/mi&gt;&lt;/mrow&gt;&lt;mrow&gt;&lt;mi&gt;A&lt;/mi&gt;&lt;mi&gt;o&lt;/mi&gt;&lt;/mrow&gt;&lt;/msubsup&gt;&lt;mo&gt;,&lt;/mo&gt;&lt;msubsup&gt;&lt;mi&gt;V&lt;/mi&gt;&lt;mrow&gt;&lt;mi&gt;t&lt;/mi&gt;&lt;mi&gt;s&lt;/mi&gt;&lt;mo&gt;:&lt;/mo&gt;&lt;mi&gt;t&lt;/mi&gt;&lt;mi&gt;p&lt;/mi&gt;&lt;/mrow&gt;&lt;mrow&gt;&lt;mi&gt;A&lt;/mi&gt;&lt;mi&gt;o&lt;/mi&gt;&lt;mo&gt;,&lt;/mo&gt;&lt;mi&gt;t&lt;/mi&gt;&lt;mi&gt;r&lt;/mi&gt;&lt;mi&gt;u&lt;/mi&gt;&lt;mi&gt;e&lt;/mi&gt;&lt;/mrow&gt;&lt;/msubsup&gt;&lt;mo&gt;)&lt;/mo&gt;&lt;/math&gt;\&quot;,\&quot;base64Image\&quot;:\&quot;iVBORw0KGgoAAAANSUhEUgAABGYAAACTCAYAAADMWR9KAAAACXBIWXMAAA7EAAAOxAGVKw4bAAAABGJhU0UAAABR3Ejz/AAAMj1JREFUeNrtnQ2kFtkbwB9JkkSSXEkkuZJEVrKyIkmSRJIkiSTJtZYkSRJJspJIkiSXJEkSSZIkkiRJJEmSyEpyJfb/Pv933r1z555z5sz3x/v7Mba9986ZM8+cec6c5zwfIgAAAAAAABDHjc7xb+e4hCgAAAAAAAAAAMpjjXSNMno8RBwAAAAAAAAAAOUwoXO8kVHDzAgiAQAAAAAAKB7CFgBAOSCjRpneMRexAAAAAAAAFAdhCwCgDHSO7zLeMLMB0QAAAAAAABQDYQsA0OOKjDfK6LEf0QAAAAAAABQDYQsAoPwhZqOMHsOIBwAAAAAAIH8IWwAART3nXordMPMcEQEAAAAAAOQPYQsAoPwpdqOMHr+ka7yBejOvczzqHMsRBQAAAABA/SFsAQCUWZ3jm7gNM3osRFS1Rg1nT4JnhWEGAAAAAKABH/CELQCAclnijTJ6bERUteZc8Jy+IwoAAAAAgPpD2AIAKMtD7/3HznHNoReOIa7asl/weAQAAAAAaAyELQBAjxehd35r59jh0AlXEVctGYo8p12IBAAAAKAZTOsc6xFDX0LYAgAoe0Lv+6PgZ2scOuEdIqsdRwzPaS5iaTTT+T4DAIB+Y2nn2CfdyjT3O8fXzvGjc/zsHCPSjdN+2zmud46T0i0hPKkF960L7k/Bfc5jGPQVhC0AgDIjmPN67/vi4OeThBDHJjDNor/fIprGcyN4ljc7x2zEAQAAbUUnOd1h+iB+XgPRQ40Zaqj5o6Ef4uEPuXvS3ZmB/oGwBQBQzoXe9XOR33126AWq/VSPfn+8szyfc4in8fwVep7/dI4tiGQs/5Z4rEXcAIBOyx3dXVKvl5853pu6fi9pyDNfFfnYVi+hiTXt67aCx+T5HPt6Pac+3SpBroQtQFNBJ+TLksjCb0aCe9hcg/Gg3q6HpLvR8F5GPV31v1ptTsM11cO1bd49+tyuxoybDTlcR+W2rHPsDr4V1Avn95hzNM/Na+l6Gz/oHItSfKOpN+/FoJ00LAre5eixuKDnoRt9OwMZPZNu7rbeONRNkFOdY37KttfI2FxwKpfJTAVdVOA3AqGPFDAhqLv87eBlW4y4AQCdliu6u/RBivmgV9fuwzV/3scifT5T8/7+HiwMPub8rN4H435njn0dCsb69wz9eiLdHbIiIWwBmgw6IV+eha61z/D7E46+na5oDEwO+voq4fNteq4szRdzQbrhx1nGuss7dk4gJ322D2X8BtaIYy6YGxlPveOLuMNwetdU48XjYL7pnXszpaz+tsxj03J+Jtrv+55yV9mlNWaqIS68ofYikBtE0EoFB4NBl/YFUevjnxksaQAA6LR4dkQm/KKOm1K/3QxdjN+L9PNUw8amjqdzKZ/JSHDuOiknN9CgdI10Xz3791TKq3xE2AK0BXRCNnaGrvfK8jebHX28XtE8/snwHNeGnuOkoN/PDX3+u8Hj/UYO3ydfDe2qZ801z+8+m6Fkecz8Ef7eONA5LgUGjR8x1/szhZwmWO7lSY7PQmX22tC+hgVPDemnBwbjUFrvajXEvA+1pfL+XcDIgKTbhT0u7EIBADqtaPZIuWFbd6Q+4UGa1Dcag36ywWPzWMJn8UGqMxIOSPzuphrMyjLkEbYAbQSdkJzpkcXrSsvfLXb080uJclshY/Ni9XJfDTjOmRgYEqL9PtGisb/M8my2JWhjd2AoOSvdcJ9Hjme+33C+jp04r7CXob8/EVznosR7m/yWQibrLW3l8dzV8+d2pF0NM9pu+fuFhn5cyag/wsaZEaFqk5U/E04M+xEZAKDTCmd9yUaZ3nGpJh9t0V2s8w0flxMiHyZxR9XJ8s6I272+zKTLhC1AG0EnJOe0+CX3Vtm6PE0nlfD+nzVcd09KA1Tb8njutzyXrGEuZ8XPc3K5jM1/ksRTp8dOyzk/Uvb9pqW9NTl8S0Y93j5KvGfbvwZDThYGZHwoJ0mBDWxIMCncRVwAgE4rnPmOj4Y30t1p1fucJWN32ScFk20v1vpdSuPMjgrvfaXh3q+3ZGweSvAMqi5rftrRt5Ul9oOwBWgz6AR/FkXeqbhF/AtHf1cV2M/Zlvc6aVLbo5b5vw3ckWLKZG/yMJTo91XP6HU5MFw8lOQJrCdbzrmWot8zxWxIVM/KLF7MRwxtfvR4dyZY+pKVQRlvcNwskHoRQ2JfAECnFc8TMbvUpvmY1MTBjyV5PPeMCu5b+xp1LX4i7cnkP5jgGVTNLUu/rpTYB8IWoO2gE/wJh6r4JKwfdshyW0F9VF1kylmyNUVbK6V6w3gRTBRzdck8vGK3xBhKdE55E/w8nJxaQ6dNm2GucBtbRcB9Kfpt8yDKsnl4QcyFLZZ6juO8PWZ6/G4wQq1jKhjFt4TfQ0QFAOi0wtkt5nCMCTm0+0P8FwFl53NZZvgw0g/cWS0bn58bsAibbPlw/qfk50HYAvQD6IR4toau+U78jPWusOYiQmM1F9bXHOdSm0fG2YaP91WW+8ojjPO4od2h0O97iYhNhu91oW8QNWDsjbnWX5Lfhp8t5PVASjlckmzhkAclH08g3+/cH54Go77gtOeEsBtRAQA6rVCmGBZoR3Nsf7n4V9fQiXJqSfc917A40YX2ihaOz6ue8h+osI87LH3aW2IfCFtoT9gCoBOyoPPQxxQLeJf37J0S5rA8Kur8K8VW6akCU9LrvEpCPzC03Vvw7wv+/77j/IlBP3w2wkxJ57+m6PMKybeqoC3nmq9nm8rAlPtqe87jIOrR9qliHVcbbjdgQgAA6AeddiDSx+ECrrFS/Mtv7yzhnsOuxeHjSEvHp29y6iq9JZ4a+vO85D4QttCOsAVAJ2QlvNB8kOC8WQ5Zfsuxf7qhYvJ4UINy1ipaRfe9CkzVk57l0O5Ew7dNT1YLguehhpPZOVxLDTcmD+Q032yXJb8kwtstbek85RuefkDM+X/yrhqo337RZMBPpD6VQStBhfzTYzJ4LgAA6LSi+x4u9a3u2kV5rBz2XAhcK+G+bxb0kVZX1nrKfntF/bOVMf2txD4QttCesAVAJ2RhMLTY1v8uTHi+K3w3rypStrCRQzkYGkzt/mzwWJ8i5o2hPHJqbXAYSnqeNHkZ6ZdLPp7YA2LfKEv6/bXQMd59w2p1s2FEyvM6XSckvx/DSs/JgCR0AIBOK5ZoeezVBV5Lc274lGktemfOlPAuzcd30z5MfcZoVeXBb1bcF8IW2hW2AOiELNwPXfNUivPvSrEeSOssbb+V7Dv/cyxtjzR4rG8s8FmcsRhKegmB7+V4Hwct9zGYsJ0jkk+4vW7svRR7JU8fb5eZlu/CgwWPiRuGa66WPuW452SwSgAA0GlFEo5XvlHC9Xzd54tKnLpYzDtF/bBb8o+H3Kso82yqxFB2hS7CFtoVtgDohLSEK+yoITRNDpILDnlmzY+jXm4fLG1vzeH+bZ5UXxs8zk3Gk6wloXuYQqIXB8/oZw76Ocw9yV4BcIq4c/4lMfK4vKB9QtLVc+e1VBNSPt/wLfhR8sk51DieiV8CyAkCAIBOK4pw+chfknzXJQ0zxS/XTBE5Lmy7O9+lmjLdZXPLQ+7vK+iXKT9TmUmyCVtoV9gCoBPSMiVi9Eh7TVeVxksZ+2jzmnidkwx2Wdq/3eBxbpr38/BkmW8xlAxJ/kUUJlq+nYZzGj89Q6QvA46574vH966GZX2S8RsNZYZOnjP0/Vy/TQKzxG+39LoAAKDTimRDjh+LSXgi1SSctO3uHOuTsXrOQ+6/pFwDoqkyRNlhNIQttCtsAdAJaTnmOZ9nOR5k6N8ksZc535OTDGxJYc83dIzbvtEO5dD2bkO7Wu3sfWB0yDNfn82TaUeCNnQDyuUll+Q78JSjneOO8yYH71nUyKSJvgdLHhsLpPrcdpWzw1Nx7WK+BAB0WqGEJ9YyJ8QLFRhm5og5udzP4MOtH9jmOVbLHAvPpdpcP4QttC9sAdAJaTCFNhRxZDF62rxZvkl+4b+vLdfY2NAxvlnyKwkdxZSnpLfxtK/A77XwkSRU6nTou8fU1hbPdmZavqd6xwLDOTq37pfxXjJqxNpZ4fi4I/1VCGIcw56Kaw7zJQCg0wqlVzHgTsnX3eUhrzU5X9MWCnKlj8aqbxWWDRWOgzJz/RC20M6wBUAnpCEcPrUih/beF/A98FCKraI2IHavqekNHeMmD6AfObRrq8b5M3j2eXuZPTdc60OC85fIaMXB55bnPODZ1n7H2H4U+ruJge64YpCVGj+2S/Uh/luluI2P2qPC/+YxAbxkrgQAdFrhXJRuOETZmeg3echsUY7XW1iiAajOTPJchO0roS/6kf8lcl3dSSsz8R5hC+0LWwB0QhrC1QnzMkpel3wNXa6w6bxysu22tH+rwWP8o2QvCW1ilRTnKWl6N7IY/vVb9YWMesWY2nqVoD8vHfeunj1DwZiJGmPeBr9fUjMdaDKwvZU+yHX7u+cE0Ne1xAEAndZyNki5OQ1sXk3fpf+SzPsYEsvIN3RS0rtR5wFhC13aFrYA6IQ0C7O3kn/Y1BmHPP9K0Z4tJCfPwgIPpFqPqbyx5RDZXdB47SW+zbuqpO3Z+74fh4K/v+gwzPh6XQ0mmP/Uo+dqYKgarPE4uSF9mlblsOeD7KcdTABAp2GYSb9zE8c8x3WG+1D2PlVYbhbch0GDUeReyXIgbKGdYQuATsgyj+fpKeYKcUwTQmvLZXUtp/7a5sr3DR7bNuN2Hsa3F1JeMYGLlmvN9ny31CNEvc9miH2jytf4ttsxrl8E415DJKc0aJzstNzPm7Yrf59KHDp4KJMNAOi09rJRytudPem4zvY+lP1FjzFbdOLXewZDQJm7aYQtuD+wb6Gi0Al9ohPmymgS0xHPha4vrvw9z1O0ZzOg7c+pvyek2LDJKrgq2UpC2xhwPNt5BdyHyfD/1vPcp6F5yBZ+/yuBIeWK496bmpdlnlSfX6t0ponfzvJNAQBAp7WZuEogm3O6jiae+1LyB1Td8a0iVpQxcb3hWkdLvH/CFkZpW9gCoBOScqPAa06WfDds/inwfZ1qWbC/lmZvLJnu6XKB78z9Eo0GPhtYB2Ssd/ByiU/YG8djSVaNqSl8kvzzxNWazZ6Kf48AAKDT2szRmA/WyTldx+WZ86VPZe9bhaWI5Hxho0jveJfj8/aBsAX3x/571BM6oU90wtrIfFBEkmFX/p6kRuGfUlxYji0se1WDx/Vvki0viwtbOFAROUlsRqC4DaxFMjaESbFV+TuW05hushHvqrTT4JR4EPfFzQMAOg28ZJdn+WpXeMm1PpX9dKmuPK7p4399ifdO2MIobQxbAHRCWoPQUEHXueOQZ9IE27Zk5RMz9lHDcr5L+yqz/SnZSkLbsIUDqRFkaonfSzMd56hhs5fYfY3HeExigPvpGNNN5qDjvo5JC/nsofTfCgAAOq3tvHLI7I+crjEx5gPieB/L/4fH2N2f8zVnGz7+y85lQthCl7aGLQA6wZcjMtZDp6hxf8khz6M5PaOsXLPogikNH9O3LfdlQg3rvptCK6Tc3Fymb81XnuPuTOhnEyzfRLbwWPUsethHhhlXUYp3bVP4S8XPGn+GuREA0GmtZqpDXs9yvM56KSePTRO5K+WXx40mDFSPlTJz/BC2MEobwxYAneBLtAJUkV5i+yQ/r83nBSyGt4o50fP8nO5fQ2hOSbds8kigI/W+lxX8jG1GCFNFu7nBPfuOgyNSXjEBW2nqc45zekndX8rYkMDfE4zDhYHB5kjCeW5mDve8TqrxNJ8do/9+a5PCP+i5iFnH3AiQmlWe71kbjuvotMbiyvuSp6v86Zhns6KPn8Elj7F7N8frmT4ID5V4v4QtjNLWsAVAJ/jyNGIMmlTRfJe00tWVnHXCoGGR/SPHuVFD5N447v9AgXJf4fmNMTUweCVJ2muqxqn6ughj/46E88nq4PffDMaNPeIXvjo9mC9fWcbWTccz3ZTxfntGr6pCh3457u1ImxT+ffErKTtRAADDTP0NM+i09NhKsz7J+TrPY57PpD5+Bns9xu+3HK/3Qsa7k5f5bhC2MEpbwxYAneBDdFNluODrbYiRaRIPOFvBgTSGlJkyPunyd8nXa+6Ex5gqqrzyAYvxJJoD5lZw33M927VV47xd0H1ctlxvusUY9d1huLEZ9sJJvfUdvBfIamkC2faOeynvc4aM5lWrspLpW8e9PW2Lsp8SY4EqelADYJjBMINOqwcTxe4Gm6eb6KSYZzTS58/BtwpLHsar3VJtyAxhC6MUHbYA6IQ664Q/pHwvnS0x8jyccP405RtJavSdYdAv2m7e4UVPPMbTZynGIHdD4isxng9+vi0H49jugsbPM/GrfqSGmB8xY/qpR1u9ykQu75A5Md9XSateqZfPx9B3c5WbZjcc96X3PFlawEZPZT8kAIBhpv6GGXRaerZbZHWh5HfhQ58/h1meYzhrIubpwcdwuM2rJd8rYQujBqoiwxYAnVBnnbA0eAej9/N3wdd9GCPPLzJaytiHXRbd4pvbQxfVLyPnP5Z8K9T1+CDVVfsybQD9COQ0M2SASPrtYfP4nV3Q+BkRd1lu1ethT82zjrZsXpga8qQeQ71Q3Ice/Topbm9xH+PM7EjfL0n1yefjQjpbkZ7gvOeLOci8CIBhpgGGGXRaeh6LecdsRs7X2RnzbG7yKKwffHkmSD4l413lZ5d4j4QtdCkjbAHQCXXUCbrQ2yd2T82fwSI37wXhInHn4oiGSCxK0LZpV/+hmMNbwmyJGKfUA+BIgYvha573fzLn607xvO4jSW6o/yTFFi2I8jPBd3GckcnH01s9V2Z59Guy2D1wesf9YMzNisxFGwIDSO/eRoJ3tA4cl/w83GrLR4+B0LoyVAAYZlprmEGnpcNWEaCIHYi4XY+rPI7YndysCfgWGj4E95d4f4QtdCkrbAHQCXXTCYfFXUEm6k2hHgOXJV24wsTg3Jti9szxOdR4qsbjxR6L4uuWRbUucMP5UvTfO2V8SIyGjBS9ebTc874vVmCYeeJhyIqyRPLJH5aEZ54y9ElMG5d377Mk2zxQI8vjjN/y96Rem5jbY/p7TRrOYE5WPgDAMFMHwww6LT2PJFnJxyzE7VRe5HFYkwrm5WESTZCtFR7KclMmbKFLmWELgE6om07wKQFuOqamuNakHL9v1npeUw0unxK0+zN4xktLHFPLg/nYZSAr4jvgUcziOs0z/svSXpFG7m0exrxVObSl1bPSlKjW9/eg+BtAe55aahisYxjtJml5GPyQVBdfCACATqsHphCPZ1Jcvo/3Mc/nLI/EayynrZRlyrVSxkcYYQujlB22AOiEOuqEtqPv83rpbgY9CnTfSHD8I10voHOB/CfVdKztLaB9NV6fD8lDDVjDDR1zqsvVoP4juBf1bFHj0tYU+lzbehG08yOYS4ZyGBuTg7bV8Pcy1NeRYB5SI6luiG2W5J5KZbJO4o1KjZ5D74if5ayfy5YCADqtzahb8TsZ7zkwt8BrxuVKOMVjic2HkrZ61STD8y7DQ4mwhWrDFgCdUDedAPUlbKgjrBLqwhoPHdjYKob64eKTtOge4wAA0GmtJZq9Xw1XKwu83gSPZ7STx/L/RbyPASHp7tbhyPm6azuzhPshbKH6sAVAJ9RJJ0B96SVZfY8ooEas9NB/a5p6c+s9FfxfjAMAQKe1kt8rMIr4JP7bzqP5Pz5VWJJ8hGhOk2hJzr2IOTeaGrYA6AR0AvRQ3fSB7yWoIQMe+m9jU2/utOciZhHjAADQaa1Dd1WjuV6OlHTduGe0jcfzf556yGpLgvaGI+c+R8QA6AR0AoQ4KqPVKycjDqgRUz3039am3twbj5v7xBgAAHRaK4kmLT1f0nVXCIaZtIumLPl4THJfgogB0AnoBAgI5/BYjTigZvgYZnY08cbmSzW16wEA0GnVcygil6slXtunbDyGmS77Jb/yuNGyzOcQLwA6AZ0AAZq/oxfWdgRxQA3xCYVvZI7CXZ6LmI2MAQBAp7WKaLnBmxV8/GGY8cOnCssLj3b2Rs7Rcp4zEC8AOgGdAMGc2yuecAZxQE3xSex/tIk3dkP8SspOYwwAADqtNWgFmHDJYk1GOrHkPiwUDDO+LJDs5XE1p89X5AuATkAnQATNIXM+NA4OIhKo+XhtnceMVg3wKSn7gOcPAOi01qClVsPlfB9KNYn9fGKEqco0OrZ/echrwNHGmcjfPkSsAOgEdALIqAftK+lWaQSoM63MMeMT36/HIZ4/AKDTWsHMzvE2JIvHwQRXBROlpTHCBfHcQ15rLecukvFeYwsRKQA6AZ0AAZula/ADqDutrMp00nMRs5TnDwDotMYzPfIhr/+uOpdA3I4vMe6j+FRhsYUhPIj83UnECYBOQCcAQEO/Z1uXS/KFx0194dkDADqt8ejuwqOQHF5L13umaj7HPC+qg4xyxGN8m0qdb4n8zUepzksKANAJAABZWOGh+9Y06YYGxG9n+VJN+rtMuuVt1zIWoQX4hty04biOTqtcp2n2+rshGbwXd96BMrkllDX3ZVOK901zB32I/M0WRAmATkAnAEBDWe2h++Y36YZ2eC5iNtekv/eC/gwzFgHDDIYZdJo3Gi9+U8bujM6p0btwKeZ5XUVd/Mcij/H9PnLO4cjv7yFGAHQCOgEAGsw6ia++2qh8ST5xqXpT02vQ198Fqz5gmMEwg07LKhcNG1pQs3dhX8wzu426+A+fKizhjxGtvjUS+p1WLJuPGAHQCegEAGgwcd6Cn5umyL97LGIe16S/T0MTyGTGImCYwTCDTvPifOjev3aOxTV8F9bGPLOPqIsxvPEY54PB316P/PwI4gNAJ6ATAKDhbJd6bArngk/CnLoo7K2h/txiHAKGGQwz6DQvwhWqvkk3p00ZaO4arQLi60I6JeaZjaAuxnDNY5xv6Bx/RH72TtjYAEAnoBMAoPnEJT4/1aab6R3LK+6nhhx8DPVnB+MQMMxgmEGnxRLOIfBDuoarsrgqyUuSv4p5bpNQGf9xzGOcD3WOl5GfrUd0AOgEdAIAtIC4/ISbmnQzTz2UuH7MV50054KMjZGdwTgEDDMYZtBpToZkbP6A1SXeXy/m90XC887FPLuVqIz/2Owx1r9F/h9vUwB0AjoBANrCjRidN9CUG5ku9UrY6TvR3GcMAgA6zUm0MlWZO6LzpJvHRq+7L+G5G6UZlbTqwDJJZhjVULC5iA0AnYBOAICW8M6h49426UZ8LOt6HKywj+oCH7Xu72EMAgA6zdu4UWYFu5nBRNjz0kla+WpycJ7t2R1nmP+HTxWW8HEIkQGgE9AJANAnOu9sk27Gp6RsL1FYFWjVkM+G/sxmHEININcFOq2OOm1tZJLaVfL9vQ1dezhlO7ekJdn1S+C955h/3TkmIi7oc3Z3jrvSNY7/DP6r/79X2pP8Fp0AAP3C/Bg9t7opN6IWpn88lfeqCvq3ztK/x4xBqOBdGQwW85pYVhOafgjG4zLEg06rkU7T/Cs/Qm3/WYLMdVJUTyWN8f2Vk5xdpQ+/MNTHcL3GYx6gLqgn35OYd0STsf+BTgAAaAyu8PdvUn0+yUQf8L6ujmVam6aJO/njfsYgFIh+lKnb25XOcTNYBNpc5H406YXvA/pdpy2X8SFSVR7vMtyLls12hTPhNTnKKY9nMYyYoM+566m3yk6Sjk4AAEiPqxLd+SbdyPkEH9hl5GPQBa66kn6K6ctgyXLKa5Gii3tNsvZdursyuujX8l5DwYKSBX49OC3dpKU/PJ7pTcSFTquJTlsso8l263JkzV1wQUgA7MOWmOegcw6GLOhnfkuou742/J1BJwBAv+AKfV/elJuY7rnwDHsGbCyoL3ODRZJPTOzLCmSlJbbWBgusm5IsqVrSzPiXpR1utG1Bc8jsdDyzIUSETquBTtNQos9Sv9LoWSt9LHW0fZEh/x+/xzwHvEyh39mRQn+dRycAANSaCcH62aTnnjfpRk6n/NB+Id2KGJprY1WwGIpLHKa/nxIsHlYH52r5VPUWeZ3w+kdrILtlHsaZb8GifSCyyNdd7c2BAcblpv9QyvcMAjtPLc9pKaJBp1Ws03TX82MNjTJ3c3qujy3tf2LIj5lb/m3DhwlAQexOocP0G20yOgEAoLa4jNA7mnITQzX8iPc96rIQvhPTT5/StLOkm8fE5UGDu349MC0OvyMWdFrFOi1clrpuR166a73jGksY+v9h85j6DdEA/F8fpdFj69AJAAC15YhFz2mBllqnCFHPje1i331swvG+RvK8IW5vmSQcjrnvtbx3lWNyk7uKWNBpFeq0GdL19qnjfX3NeUK03ecxXoP/MFVhOY9YAP7Tl99T6LLt6AQAgNpi+z7cV9cOn0w5GdXx+LtGcn0p+Wa6vx2zyJnBu1cZg5bnshvRoNMq0mlq9Hgi/aOrN4h9RwS6nGXeAHCinsxJcwT+hU4AAKgli8VeEbS23jK3WrKA0WNFTWQ6MWZy35rj4KpTbp1+ZZflmSxENOi0inTapJrf16ICnrvNELWOV+L/bBMMxwBx6Lx9Trq5wEY8dNkOdAIAQC3526K3NyKa/mJVzESedkfCFZZAosvquGZ4Hl8QC0CpLLHoxvuI5v+sDMnkGeIASIzusA5H9MsmdAIAQO2YJmbv+XuIpv9w5YTJMvmdE7fBZwGir+RDzVSCeRjRAJTOeYtuXIZo/u9FNRIcJEUGSMe2Fn13oRMAoJ/W4mqomYdo+o/7YjeeZElGuV3chpn1iL50Vkj73JsBmop6I5oqjTxANACQA8eFHFYAAHVGK5KavGX2IJr+Y4q488v8kaHtuHKOlM4uH5t31BxEA1AJtvLZGK4BICuPQjrlBOIAAKgdJu/pW4ilP9kodsOJhrxkyQK9SdyGmU2Iv3QeGp7DG8QCULtJWbPwT0U0AJCScB4r3YCbi0gAAGrF74bvv/dCxbm+5YLkWyY7zFZxG2bWIP5SsXlHnUY0AJW/m6Zk6WcQDQCkJBym/jfiAACoFbr59k7GO0UsRjT9y0exG052ZWz7iLgNM1MQf6nYvKM2IBqAytEEb18M7+cqRAMACfkzpEM0j9V0RAIAUCuuGL751iGW/mWRuA0nszO2f83R9nPEXzqmcImf0q10AADV80fwTv4bWVTNQjQA4Mk6wbgLAFBn9hjWZDsRS3/zp9gNJy8ztq25ab472j+E+EvnjeE53EcsALXClDT9ceeYiGgAIAYNEf8R0h0HEAkAQK1YKeNTS/yFWOCe2A0npzK27covozvCaXeA1eCzrHPslq4L2FvpJk5yMdQ5XneOEemWoV2UowzVq2hn0JdnneNbcH/6YfQikOP8Ap+hlr8+KV0DS/ja+mzDVV3mWp7Ffl4DgNqxW/LP+QXNRcPctLrOckSB/Bxsj3zsk1eGMQ3ID+rFws7xNfJ99ydigYniLpO9OkPbajx56Wg7SclGLeOsuVE0Qe1DGe/mPyL2ylFqjHhmuL7mccgapqV9ui/uULBwH/MsDa73qy5wbzyuvS84Z6fl98t4FQBqyS7D+3oMsfQdqu+fBM+fRQTys93j6YiuOMqjZ0wD8oNaoevST0L4EhjYIMWVyT7maPtD55jm0TfNT/PFw/Bw09KGKtvPkr9HkPbtdaQtVfDqIdQrbaseMg8if6NGsCU5PLe1Mt4g8zx4sXvGJk3yd1hGvZPUuDVskMFXXgOAWrNFcHftd84Fz/07okB+BhbI2A2ob4HeAMY0ID+oD7oW+xhZa69HLNDjvMNocT1Duzsd7eoCw8c6rW78lzrH2aCfjxxtmkJxVoo7v02aHDpq9LgdaUM/gLZb/n6h4ZpXMshVjT4XDdff5jint+M+FPwtoREAzUP1WdTtdQix9AX70dfIL4ah0D3ekuzewMCYRn4A+aJGmQ+hsadeM0sRC4R55zBa7E7RnnrYnBS3MSRLOM9ZS5tRQ89yixEii7fIesPCSK2eC2POi17zW8p71x2xqJfOh+DncbxxPOutvAYAjcCkA8gP1W6GIs97FyJBfpZvr6vSNeACYxqQH9QLXSuGw5c0omImYoEwgzFGi7kJPwrUbfaVoz0NScpal32TmEOuwsyX0fCny9I1qDy09OmW53WPGM5Vo8wcD7mYkh4nRZP7Ro1CGqLluyt2SYorhw4A5THV8D6fRCyt5EjGeRn5IT9gTAPyg2r5I7KGO4JIwMSQY7GuXh1abnG64TxNGDwQ/H5bsEhw5XEZCRYOM3Lo8xZD+9dCv9f+9nKvhHMwzBOzB41PXN8Fw3kaIuXjfrZYsnvMrJKxZS97Mk3i/mYLWXvJawDQSDZHJnp1x56EWFrBtGBei+rrtw2+p4FgHvoWzF9Ppbi4+jbKD9AJ6ATkB81D18m9gjXvpWukATByR/yqCaU5fgbtazjU1Bz7fNxwrXCehRtir/i0TkaNM2pY2etxPZuniW9SvYPiNiTFoZ4yPwxtJHW9vGi5D8poAjSXWTKa0Ft123xE0nj0o80WdnquweP0k+We9iA/AHQCOgFaiEZN9CJJzua8HoaWoV4vP8VuWNEQIA3z+RAYMdSaHa4KMhL8XHds70k3UbBavndIN8Z5YkH9fmDoa89zZF/w//dj7nua+FWbOmGRzZUEMn5vOH+75/mmGvd63Eght6uWe1nHqwDQeFbyLjeeJQ493Ts25HAd3aXeH8zZX4O5/Gcw1+vcttYyP14I5vg0nBX3Js6smstvinQ9V9VL7ZB0N2xuBfI75Vh46qaRbsR8Dsn5W/DNpK7shFAAOgGdgE5oNzpOfkcMEIerTPanmvZ5oowvGdsLC1oQKDlVinnkTNlukY0qU9+QrANidpv0MQpND/7WlKw4zYR1xzL5TeRVAACohLnB4uaTZPNQne45fx4X94ZMOKn88WBB9kdoLtuR8j4/xFxvU43ktyBYbOoi9UXwXZFkYTc7OP+Xx3X1b04wDwM6AZ2ATgDob844FMOlBhmTemXuep4023K4jnqq/JBsLpaLLcp7lef5NyzX35vynkz5de7yGgAAVMYNyR427FNZcLJ0d2Sjmwx/Sjf/Wm+zYE4wx7yXfD0si1qEFSG/pcEi6kLwfeHKnxfd3NAKh/+k6MNt8duwAXQCOgGdAAAt5I0UU866bGOS5rDpJQS+l8M1VBG+tMjljaeinGmZxA569mGn5fqvUt7TDEt7f/EaAADUimUWfZ1l0yGaK03npwHH3081LNr0WJDj3B3eIZ5bY/lpQm1bPr5wVceTofvR8I81MpqMW+dg3dT54pADVToAnYBOQCcA9CELxG2pnVHTfpuMSeqZopZ3tVLnkfjysEMuOz3O14ntdQYFq+fbrOsbU97TRkt7S3kVAABqxX6Lvp6Tsr0lkm7zZbqM3dXWxUXaHVzdrHhrua8DNZefskXcHrS9RebjzjHoaEe9cW1hED8DOQGgE9AJ6ASAPmKvw/jwrKZ9nm/oq1qaeyW/j+ZwDTWK2EKYvnhMQMtlfFyrKtztCfpgqwL1IsN9/W25HwAAqBemndgsJV1NSTZ98xeEc619yHhfM4O+fA0WHPqtsa0B8pPQd0b00O+SI8G/z3suUl2eAvsY/oBOQCegEwD6i5sOJXCipn3ebeirZlt/HxhD8ihBdsohl+OO8zRW95iMT+z1VNyW8iiLJJu3jg2TB89lXgMAgFphq5Z4PkObrwzt+aKLip6r/fU+lZ8yLObQ5vXBv08naGudY56/xisA6AR0AjoBACXfO1bXtN+mhF5PJD+LslruXZnWTXG0WnZbXSSjXjLvUxpSrlmuraFNk1Le16ClzS28CgAAtWKV5BvGKpZ5bXGC8y/ltJBpqvxEzDnjeqWFbyRsa7o0ryImoBPQCegEACiAteLOJl7HLOATxGxM+hkoxzz6vN8hl0ehv1PDllaHumLok7phbk/Zn7mO65/NcF9HpFl5hAAA+pVjYk6EOS1Dm6a582SC83u5FHb2qfzmWObQb8H3R9K2Jzjm+hFeAUAnoBPQCQD9w2mHArhV0z6vcvR5b07XeOm4hoY4DQXyiU5ob4PfL8l4/aOO669K2eYEMVv1n/EaAADUjkcF6Ov3lo/9eZ7n/ybZyuI2XX5bHXPz+pRtujbHANAJ6AR0AkCf8NqhAIZq2ueTYk/IOymH9gfFXaUqfGiyM81ts1eS5Y+J453lej8kvUeQrRrTCV4DAIBaMUXG5ynLQ18PW+aBx55zi86xmpxyPvIbJ7+0/OuY7wHQCegEdAJAHzA/xuiwqKb9fmHp77Gc2t/tkIleW7PErw2UfBEscVx/OEO7TyVfDxwAACgGmyF9bcZ21zvml/PIL5bPlnY3p2xvkuN5fOY1AHQCOgGdANAf7G7gyz/g6PO8nK5xxXGNrSXc4z7J34vJlkuornmEAAD6mTMWfT0xY7uq7z845pi/kJ+VxRaZfc0wj85zPIubvAaATkAnoBMA+oMbjpe/ruWTd1j6ez/HazyWZNWY8mbYcf00ln2dHF6i5AEAGoNJZ9/Lqe0/xe0tuwv5GbFtmmTxKnCVxj3LawDoBHQCOgGg/dgqG9W9fPJwCZPGN4dcyvAueea4/sycJ9w9vAoAALVilkVfH8qpfd0hfhuzENuA/MZh28xamaFNl+fyJl4FQCegE9AJAO1nVYwCnlXDPk+wGE3UwDQ1x+u4DFZl8F3yMwzNE7ehaZBXAQCgVmy26OvlOV5jXcw3gCaZXIb8xnx/jIi56EAWXKHTM3gVAJ2ATkAnALSfU44X/3VN+7xCyinrXbVhJq/r66TxOJCPqa1PjnMHeEUAACrhspRTjeNKzEJM54hZyM/5/XEhY7vvJf+KLoBOQCegEwCgQbyQ5sUwHrH0d3vO13F5mMzMoX3dlXDlqnEZZpJ4zGiMqyZxtrlF2vIILQ8mLLxpAADK56NBX18r4DrTHYuA3nEX+f2fw5J/eMegQ+67eQ0AnYBOQCcAtJ85MUq3rjGMTwx9/dU5puV8nZsFyqZnXHKV9v7iuP7ihNfRXEGnxb/C1GBw/cu8JgAApbOg5I/yReLejNBjG/KTB5J/RZeDlr5qOPNUXgVAJ6AT0AkA7Scu+/rCGvZ5mqWvtwu41gGHbNJmcNe40F5IUVwlpOuO6/skKjshY3cDbKFM8yPnafiSlkx8wwQAAFAJuyqYl9fGfBPovDChj+WnC61fkn9VQ1u1xBO8BoBOQCegEwD6g9cxCnd2DftsS9xVxI7BHIvCTVuxarWMulGqIWlSzN+7DGdfxZ7/RX/eM8K8k65LqgTnxOWr0XM1I/8/Uk/DHABAP3DVoKs/l3DdwzHfBdv7WH4bCvj+sOWn0J3xmbwGgE5AJ6ATANrPwRhFq8eBGvb7opRrRDrpkI+6KvoYZ7Rvl0Ln6b99dhhUAY84rq/xvxuDtvRY2jmOy2g1p6hxxZazZm3w+zXSNRypMWo1rwgAQGWYQgjKCi194ph3rvWx/P62yGRuhjZvW9o8yCsA6AR0AjoBoN1o2Mo5iTfK9A5VOnVK/vrJ0MdnBV5vcud4GiOj+9I10MyKGFU2BEaYnkFEjSz7El7/UIJnFT50AloRaeuXx3k/JVvCMgAAyMZvko+XpnIimMOSsEjc3pr9JL8wpmIJ7zK0t9TSz1eSLT8FoBPQCegEAKgxwxKfYd11qLuf5jxZXOE9LLH07WjB11Ujy+MMsuvlpElr4Lqd8FqfgkkoStzz12S/K3lVAAAqxRbGOpBy7leDe9I8EFctfRjpM/n1mGVp81KGNk1JQ38FizMAdAI6AZ0A0FL+zelYW+E9/GXp07ISrq0TmLoRfksgq1+BUWVFxmurlfyk5zXVLdMWg+qKE9acNHN4TQAAKsdkjH9t+Vudk694tPVbwj7Ykn7+6DP59bDlt9ucso9bLO0NMfwBnYBOQCcAAMQzOVCeagB5GUxII8Gh7px3pZsHRxXz9JyvrWFomkPmSei6aijSUCr1Glrg0YaW5/4SnKtJfs+nmJwBAKAYdBPAlA/srOFv5wbzzh5He73NhL8S9mOSZZHwos/k1yPP/HYzg3k4z512QCegE9AJAAAAAACQA7aKHNHcX1M7x3PpGuZdC5Le+Y9S9MXUj4s536+GEpwPFou6YaC5L9bXRH5hPkp+FV3uGtrSHX1ySAA6AZ2ATgAAAAAAqJgDYg6LnRr5Ow0/1Qp8ruof8yLtJMlzNs2ymFmV471qjoZPluvsqYH8eiyQ/KrRmEKK70jXGxcAnYBOQCcAAAAAAFTMDTEnZg9zPvj5tpi21kXaGU7Qj21SfAXEs+KuEDirYvn12GXp47GEfTPlkNBQhQkMe0AnoBPQCQAAAAAA9cCUYF5zis0Mjl5llAspF1KrPc7TRcFLKb4yyAdxJ7PfVLH8elyT7KV2NxnkSVJPQCegE9AJAAAAAAA1Yor4Vd/T3BCTPNo7YThXE1sud5yj7vPDGRccVS3C8pZfj++Wdnx316OhFLrAXcxwB3QCOgGdAAAAAADQvEWYVuXzrfg3bGlDd2a1wl84v4RW/dMcDm8if6u7zRsKut8zjvvUPs6uWH7KMkdbj2POVfnek7GJQXVHnDAFQCegE9AJAAAAAAA15ZHjo1/d56cmaOt2aEGji6mf4rd73DtH8y4MFHivGkbw1nL9oRrITzkQI6e7wUKtt7CaI11Pgluhv3kV3M8UhjegE9AJ6AQAAAAAgHozU8aWitUKJbrLvSJFW5rg8kpk4TGjc2yUbonbF9LNtaDXUdf819LNt7A76EcZaH/OBH3Vfmgy0U01kZ+IuYxtL4xjf7Cw+xiS449gYXktWHgtYkgDOgGdgE4AAAAAAABIzkQxexR8RTQA6AR0AgAAAAAAQLGsEfPO+DCiAUAnoBMAAAAAAACK5bhlEbYT0QCgE9AJAAAAAAAAxfLUsgibi2gA0AnoBAAAAAAAgOKYZlmAvUU0AOgEdAIAAAAAAECxbLQswi4iGgB0AjoBAAAAAACgWC5YFmEbEQ0AOgGdAAAAAAAAUCxvLIuwGYgGAJ2ATgAAAAAAACiO2ZYF2EtEA4BOQCcAAAAAAAAUyw4hlwQAoBMAAAAAAAAq4a5lEbYF0QCgE9AJAAAAAAAAxbHcsgAjyScAOgGdAAAAAAAAUPAC7KNjEXa/c0xHTADoBHQCAAAAAABAPizpHNc6x2vH4it8/OwcDzrH1c5xGfEBoBPQCQAAAAAAAOlZ2DnOpDz+RnwA6AR0AoCZ/wEnbovyd64ePAAAAhR0RVh0TWF0aE1MADxtYXRoIHhtbG5zPSJodHRwOi8vd3d3LnczLm9yZy8xOTk4L01hdGgvTWF0aE1MIj48bXN0eWxlIG1hdGhzaXplPSIxNnB4Ij48bXN1Yj48bWk+TDwvbWk+PG1yb3c+PG1pPlA8L21pPjxtaT5yPC9taT48bWk+ZTwvbWk+PG1pPmQ8L21pPjwvbXJvdz48L21zdWI+PG1vPj08L21vPjxtaT5MPC9taT48bW4+MjwvbW4+PG1vPig8L21vPjxtc3Vic3VwPjxtaT5WPC9taT48bXJvdz48bWk+dDwvbWk+PG1pPnM8L21pPjxtbz46PC9tbz48bWk+dDwvbWk+PG1pPnA8L21pPjwvbXJvdz48bXJvdz48bWk+QTwvbWk+PG1pPm88L21pPjwvbXJvdz48L21zdWJzdXA+PG1vPiw8L21vPjxtc3Vic3VwPjxtaT5WPC9taT48bXJvdz48bWk+dDwvbWk+PG1pPnM8L21pPjxtbz46PC9tbz48bWk+dDwvbWk+PG1pPnA8L21pPjwvbXJvdz48bXJvdz48bWk+QTwvbWk+PG1pPm88L21pPjxtbz4sPC9tbz48bWk+dDwvbWk+PG1pPnI8L21pPjxtaT51PC9taT48bWk+ZTwvbWk+PC9tcm93PjwvbXN1YnN1cD48bW8+KTwvbW8+PC9tc3R5bGU+PC9tYXRoPkJas0sAAAAASUVORK5CYII=\&quot;,\&quot;slideId\&quot;:262,\&quot;accessibleText\&quot;:\&quot;L subscript P r e d end subscript equals L 2 left parenthesis V subscript t s colon t p end subscript superscript A o end superscript comma V subscript t s colon t p end subscript superscript A o comma t r u e end superscript right parenthesis\&quot;,\&quot;imageHeight\&quot;:23.52}]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633</Words>
  <Application>Microsoft Office PowerPoint</Application>
  <PresentationFormat>Widescreen</PresentationFormat>
  <Paragraphs>95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Autonomous Predictive Tracking and Laser Neutralization System for Flies</vt:lpstr>
      <vt:lpstr>The Problem &amp; The Need</vt:lpstr>
      <vt:lpstr>Why Existing Tech Fails (The Gap)</vt:lpstr>
      <vt:lpstr>Engineering &amp; Research Challenges </vt:lpstr>
      <vt:lpstr>Proposed Solution &amp; Innovation</vt:lpstr>
      <vt:lpstr>Process Flow</vt:lpstr>
      <vt:lpstr>Computer Vision (Detection)</vt:lpstr>
      <vt:lpstr>System Architecture(TrajLearn)</vt:lpstr>
      <vt:lpstr>Transfer Learning from TrajLearn</vt:lpstr>
      <vt:lpstr>Loss Function- Cross entropy</vt:lpstr>
      <vt:lpstr>Success Metrics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יניב בודאגה</dc:creator>
  <cp:lastModifiedBy>דניאל לחמקוב</cp:lastModifiedBy>
  <cp:revision>2</cp:revision>
  <dcterms:created xsi:type="dcterms:W3CDTF">2026-01-21T09:42:31Z</dcterms:created>
  <dcterms:modified xsi:type="dcterms:W3CDTF">2026-09-05T09:40:30Z</dcterms:modified>
</cp:coreProperties>
</file>